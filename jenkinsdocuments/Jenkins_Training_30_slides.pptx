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4" name="Google Shape;54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" name="Google Shape;61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4" name="Google Shape;63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8" name="Google Shape;65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6" name="Google Shape;67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7" name="Google Shape;71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4" name="Google Shape;74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9" name="Google Shape;789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2" name="Google Shape;80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_DARK">
  <p:cSld name="MASTER_DARK">
    <p:bg>
      <p:bgPr>
        <a:solidFill>
          <a:srgbClr val="0A0B10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457200" y="6309360"/>
            <a:ext cx="11274552" cy="13716"/>
          </a:xfrm>
          <a:prstGeom prst="rect">
            <a:avLst/>
          </a:prstGeom>
          <a:solidFill>
            <a:srgbClr val="25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7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F6376"/>
                </a:solidFill>
                <a:latin typeface="Calibri"/>
                <a:ea typeface="Calibri"/>
                <a:cs typeface="Calibri"/>
                <a:sym typeface="Calibri"/>
              </a:rPr>
              <a:t>Rajesh Upadhyay's AI Academy  •  Jenkins Training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37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F6376"/>
                </a:solidFill>
                <a:latin typeface="Calibri"/>
                <a:ea typeface="Calibri"/>
                <a:cs typeface="Calibri"/>
                <a:sym typeface="Calibri"/>
              </a:rPr>
              <a:t>www.rajeshupadhyay.com  •  +91 98863 45721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5728716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b="1" i="0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spcBef>
                <a:spcPts val="0"/>
              </a:spcBef>
              <a:buNone/>
              <a:defRPr b="1" i="0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spcBef>
                <a:spcPts val="0"/>
              </a:spcBef>
              <a:buNone/>
              <a:defRPr b="1" i="0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spcBef>
                <a:spcPts val="0"/>
              </a:spcBef>
              <a:buNone/>
              <a:defRPr b="1" i="0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spcBef>
                <a:spcPts val="0"/>
              </a:spcBef>
              <a:buNone/>
              <a:defRPr b="1" i="0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spcBef>
                <a:spcPts val="0"/>
              </a:spcBef>
              <a:buNone/>
              <a:defRPr b="1" i="0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spcBef>
                <a:spcPts val="0"/>
              </a:spcBef>
              <a:buNone/>
              <a:defRPr b="1" i="0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spcBef>
                <a:spcPts val="0"/>
              </a:spcBef>
              <a:buNone/>
              <a:defRPr b="1" i="0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spcBef>
                <a:spcPts val="0"/>
              </a:spcBef>
              <a:buNone/>
              <a:defRPr b="1" i="0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5728716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-1828800" y="-2743200"/>
            <a:ext cx="8229600" cy="8229600"/>
          </a:xfrm>
          <a:prstGeom prst="ellipse">
            <a:avLst/>
          </a:prstGeom>
          <a:solidFill>
            <a:srgbClr val="7C5CFF">
              <a:alpha val="25098"/>
            </a:srgbClr>
          </a:solidFill>
          <a:ln cap="flat" cmpd="sng" w="12700">
            <a:solidFill>
              <a:srgbClr val="7C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7315200" y="3657600"/>
            <a:ext cx="7315200" cy="7315200"/>
          </a:xfrm>
          <a:prstGeom prst="ellipse">
            <a:avLst/>
          </a:prstGeom>
          <a:solidFill>
            <a:srgbClr val="22D3EE">
              <a:alpha val="20000"/>
            </a:srgbClr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548640" y="502920"/>
            <a:ext cx="502920" cy="502920"/>
          </a:xfrm>
          <a:prstGeom prst="roundRect">
            <a:avLst>
              <a:gd fmla="val 18182" name="adj"/>
            </a:avLst>
          </a:prstGeom>
          <a:solidFill>
            <a:srgbClr val="7C5CFF"/>
          </a:solidFill>
          <a:ln cap="flat" cmpd="sng" w="12700">
            <a:solidFill>
              <a:srgbClr val="7C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1188720" y="56692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Rajesh Upadhyay's AI Academy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548640" y="21031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●  TRAINING  •  V2026.1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548640" y="2468880"/>
            <a:ext cx="10972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Jenkins Training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48640" y="37033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Industry-Ready DevOps  •  From CI/CD basics to production pipelines.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48640" y="4526280"/>
            <a:ext cx="10607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A focused 30-slide journey through Jenkins — concepts, pipeline-as-code, agents, security, and 5 hands-on labs you actually do.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48640" y="5577840"/>
            <a:ext cx="3520440" cy="77724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731520" y="5650992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SLIDES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731520" y="589788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30  •  5 hands-on labs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251960" y="5577840"/>
            <a:ext cx="3520440" cy="77724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434840" y="5650992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AUDIENCE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34840" y="589788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Beginners → Architects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7955280" y="5577840"/>
            <a:ext cx="3520440" cy="77724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8138160" y="5650992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FORMAT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8138160" y="589788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Lecture + Lab + Q&amp;A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/>
          <p:nvPr/>
        </p:nvSpPr>
        <p:spPr>
          <a:xfrm>
            <a:off x="548640" y="566928"/>
            <a:ext cx="118872" cy="118872"/>
          </a:xfrm>
          <a:prstGeom prst="ellipse">
            <a:avLst/>
          </a:prstGeom>
          <a:solidFill>
            <a:srgbClr val="7C5CFF"/>
          </a:solidFill>
          <a:ln cap="flat" cmpd="sng" w="12700">
            <a:solidFill>
              <a:srgbClr val="7C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758952" y="50292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01  •  WELCOME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548640" y="84124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548640" y="1828800"/>
            <a:ext cx="11064240" cy="91440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548640" y="1828800"/>
            <a:ext cx="73152" cy="914400"/>
          </a:xfrm>
          <a:prstGeom prst="rect">
            <a:avLst/>
          </a:prstGeom>
          <a:solidFill>
            <a:srgbClr val="7C5CFF"/>
          </a:solidFill>
          <a:ln cap="flat" cmpd="sng" w="12700">
            <a:solidFill>
              <a:srgbClr val="7C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777240" y="1993392"/>
            <a:ext cx="548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1463040" y="201168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FOUNDATIONS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4754880" y="2029968"/>
            <a:ext cx="6675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Why CI/CD, the pipeline anatomy, where Jenkins fits.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48640" y="2907792"/>
            <a:ext cx="11064240" cy="91440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548640" y="2907792"/>
            <a:ext cx="73152" cy="914400"/>
          </a:xfrm>
          <a:prstGeom prst="rect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777240" y="3072384"/>
            <a:ext cx="548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1463040" y="309067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JENKINS CORE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754880" y="3108960"/>
            <a:ext cx="6675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Architecture, UI, install, vocabulary, jobs.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48640" y="3986784"/>
            <a:ext cx="11064240" cy="91440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548640" y="3986784"/>
            <a:ext cx="73152" cy="914400"/>
          </a:xfrm>
          <a:prstGeom prst="rect">
            <a:avLst/>
          </a:prstGeom>
          <a:solidFill>
            <a:srgbClr val="FF7A59"/>
          </a:solidFill>
          <a:ln cap="flat" cmpd="sng" w="12700">
            <a:solidFill>
              <a:srgbClr val="FF7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777240" y="4151376"/>
            <a:ext cx="548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9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7A59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1463040" y="4169664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PIPELINE AS CODE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754880" y="4187952"/>
            <a:ext cx="6675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Jenkinsfile, declarative vs scripted, full reference.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48640" y="5065776"/>
            <a:ext cx="11064240" cy="91440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548640" y="5065776"/>
            <a:ext cx="73152" cy="914400"/>
          </a:xfrm>
          <a:prstGeom prst="rect">
            <a:avLst/>
          </a:prstGeom>
          <a:solidFill>
            <a:srgbClr val="10E0A0"/>
          </a:solidFill>
          <a:ln cap="flat" cmpd="sng" w="12700">
            <a:solidFill>
              <a:srgbClr val="10E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777240" y="5230368"/>
            <a:ext cx="548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1463040" y="5248656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PRODUCTION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754880" y="5266944"/>
            <a:ext cx="6675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SCM triggers, credentials, agents, security, deploy.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 txBox="1"/>
          <p:nvPr>
            <p:ph idx="4294967295" type="sldNum"/>
          </p:nvPr>
        </p:nvSpPr>
        <p:spPr>
          <a:xfrm>
            <a:off x="5728716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AA0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/>
          <p:nvPr/>
        </p:nvSpPr>
        <p:spPr>
          <a:xfrm>
            <a:off x="548640" y="566928"/>
            <a:ext cx="118872" cy="118872"/>
          </a:xfrm>
          <a:prstGeom prst="ellipse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758952" y="50292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02  •  OUTCOMES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548640" y="84124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By the end, you can…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548640" y="1783080"/>
            <a:ext cx="5440680" cy="12801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777240" y="2057400"/>
            <a:ext cx="685800" cy="685800"/>
          </a:xfrm>
          <a:prstGeom prst="ellipse">
            <a:avLst/>
          </a:prstGeom>
          <a:solidFill>
            <a:srgbClr val="22D3EE">
              <a:alpha val="20000"/>
            </a:srgbClr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777240" y="205740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▣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1600200" y="198424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Design CI/CD pipelines for any stack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1600200" y="2386584"/>
            <a:ext cx="4297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Pick the right Jenkins pattern per repo.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6126480" y="1783080"/>
            <a:ext cx="5440680" cy="12801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6355080" y="2057400"/>
            <a:ext cx="685800" cy="685800"/>
          </a:xfrm>
          <a:prstGeom prst="ellipse">
            <a:avLst/>
          </a:prstGeom>
          <a:solidFill>
            <a:srgbClr val="22D3EE">
              <a:alpha val="20000"/>
            </a:srgbClr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6355080" y="205740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⌘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7178040" y="198424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Write production-grade declarative Jenkinsfiles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7178040" y="2386584"/>
            <a:ext cx="4297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Stages, parallel, conditionals, approvals.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548640" y="3200400"/>
            <a:ext cx="5440680" cy="12801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777240" y="3474720"/>
            <a:ext cx="685800" cy="685800"/>
          </a:xfrm>
          <a:prstGeom prst="ellipse">
            <a:avLst/>
          </a:prstGeom>
          <a:solidFill>
            <a:srgbClr val="22D3EE">
              <a:alpha val="20000"/>
            </a:srgbClr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777240" y="347472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⌬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1600200" y="340156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Run distributed builds with agents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1600200" y="3803904"/>
            <a:ext cx="4297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Static, cloud, and Kubernetes agents.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6126480" y="3200400"/>
            <a:ext cx="5440680" cy="12801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6355080" y="3474720"/>
            <a:ext cx="685800" cy="685800"/>
          </a:xfrm>
          <a:prstGeom prst="ellipse">
            <a:avLst/>
          </a:prstGeom>
          <a:solidFill>
            <a:srgbClr val="22D3EE">
              <a:alpha val="20000"/>
            </a:srgbClr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6355080" y="347472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★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7178040" y="340156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Secure &amp; govern Jenkins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7178040" y="3803904"/>
            <a:ext cx="4297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RBAC, credentials, hardening.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548640" y="4617720"/>
            <a:ext cx="5440680" cy="12801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777240" y="4892040"/>
            <a:ext cx="685800" cy="685800"/>
          </a:xfrm>
          <a:prstGeom prst="ellipse">
            <a:avLst/>
          </a:prstGeom>
          <a:solidFill>
            <a:srgbClr val="22D3EE">
              <a:alpha val="20000"/>
            </a:srgbClr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777240" y="489204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◍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1600200" y="481888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Ship to staging &amp; prod with confidence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1600200" y="5221224"/>
            <a:ext cx="4297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Promotion, blue/green, canary.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6126480" y="4617720"/>
            <a:ext cx="5440680" cy="12801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6355080" y="4892040"/>
            <a:ext cx="685800" cy="685800"/>
          </a:xfrm>
          <a:prstGeom prst="ellipse">
            <a:avLst/>
          </a:prstGeom>
          <a:solidFill>
            <a:srgbClr val="22D3EE">
              <a:alpha val="20000"/>
            </a:srgbClr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6355080" y="489204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⌥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7178040" y="481888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Speak the DevOps interview language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7178040" y="5221224"/>
            <a:ext cx="4297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Patterns, anti-patterns, war stories.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 txBox="1"/>
          <p:nvPr>
            <p:ph idx="4294967295" type="sldNum"/>
          </p:nvPr>
        </p:nvSpPr>
        <p:spPr>
          <a:xfrm>
            <a:off x="5728716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AA0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/>
          <p:nvPr/>
        </p:nvSpPr>
        <p:spPr>
          <a:xfrm>
            <a:off x="548640" y="566928"/>
            <a:ext cx="118872" cy="118872"/>
          </a:xfrm>
          <a:prstGeom prst="ellipse">
            <a:avLst/>
          </a:prstGeom>
          <a:solidFill>
            <a:srgbClr val="7C5CFF"/>
          </a:solidFill>
          <a:ln cap="flat" cmpd="sng" w="12700">
            <a:solidFill>
              <a:srgbClr val="7C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758952" y="50292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03  •  WHY CI/CD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548640" y="84124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pain before CI/CD.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Releases without CI/CD feel like Friday-night surgery. Here's what's broken.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548640" y="2468880"/>
            <a:ext cx="3611880" cy="15087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731520" y="2606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9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7A59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1188720" y="265176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Manual deploys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731520" y="315468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Copying WARs at 11 PM. Someone forgets a step.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4297680" y="2468880"/>
            <a:ext cx="3611880" cy="15087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4480560" y="2606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9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7A59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937760" y="265176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Works on my box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4480560" y="315468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Local passes; staging fails on a missing env var.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8046720" y="2468880"/>
            <a:ext cx="3611880" cy="15087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8229600" y="2606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9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7A59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8686800" y="265176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Slow feedback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8229600" y="315468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Bugs found in QA two weeks after they're written.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548640" y="4160520"/>
            <a:ext cx="3611880" cy="15087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731520" y="4297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9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7A59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1188720" y="434340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Hero engineers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731520" y="484632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One person owns deploys; they go on leave; everything stops.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4297680" y="4160520"/>
            <a:ext cx="3611880" cy="15087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4480560" y="4297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9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7A59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937760" y="434340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Release theatre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480560" y="484632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Tickets, change forms, screenshots — no automated tests.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8046720" y="4160520"/>
            <a:ext cx="3611880" cy="15087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8229600" y="4297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9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7A59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8686800" y="434340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No audit trail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8229600" y="484632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Compliance has no idea what shipped, when, or who approved it.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 txBox="1"/>
          <p:nvPr>
            <p:ph idx="4294967295" type="sldNum"/>
          </p:nvPr>
        </p:nvSpPr>
        <p:spPr>
          <a:xfrm>
            <a:off x="5728716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AA0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/>
          <p:nvPr/>
        </p:nvSpPr>
        <p:spPr>
          <a:xfrm>
            <a:off x="548640" y="566928"/>
            <a:ext cx="118872" cy="118872"/>
          </a:xfrm>
          <a:prstGeom prst="ellipse">
            <a:avLst/>
          </a:prstGeom>
          <a:solidFill>
            <a:srgbClr val="7C5CFF"/>
          </a:solidFill>
          <a:ln cap="flat" cmpd="sng" w="12700">
            <a:solidFill>
              <a:srgbClr val="7C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758952" y="50292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04  •  CI/CD DEFINED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548640" y="84124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CI/CD actually means.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548640" y="2377440"/>
            <a:ext cx="3611880" cy="393192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822960" y="2606040"/>
            <a:ext cx="1188720" cy="1188720"/>
          </a:xfrm>
          <a:prstGeom prst="roundRect">
            <a:avLst>
              <a:gd fmla="val 11538" name="adj"/>
            </a:avLst>
          </a:prstGeom>
          <a:solidFill>
            <a:srgbClr val="7C5CFF">
              <a:alpha val="20000"/>
            </a:srgbClr>
          </a:solidFill>
          <a:ln cap="flat" cmpd="sng" w="19050">
            <a:solidFill>
              <a:srgbClr val="7C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822960" y="2606040"/>
            <a:ext cx="1188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CI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822960" y="393192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Continuous Integration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822960" y="4526280"/>
            <a:ext cx="31089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Every commit triggers an automated build + test. Catch breakage in minutes, not weeks.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4343400" y="2377440"/>
            <a:ext cx="3611880" cy="393192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4617720" y="2606040"/>
            <a:ext cx="1188720" cy="1188720"/>
          </a:xfrm>
          <a:prstGeom prst="roundRect">
            <a:avLst>
              <a:gd fmla="val 11538" name="adj"/>
            </a:avLst>
          </a:prstGeom>
          <a:solidFill>
            <a:srgbClr val="22D3EE">
              <a:alpha val="20000"/>
            </a:srgbClr>
          </a:solidFill>
          <a:ln cap="flat" cmpd="sng" w="1905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4617720" y="2606040"/>
            <a:ext cx="1188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CD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4617720" y="393192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Continuous Delivery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4617720" y="4526280"/>
            <a:ext cx="31089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Every green build is releasable. A human still clicks 'ship'.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8138160" y="2377440"/>
            <a:ext cx="3611880" cy="393192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8412480" y="2606040"/>
            <a:ext cx="1188720" cy="1188720"/>
          </a:xfrm>
          <a:prstGeom prst="roundRect">
            <a:avLst>
              <a:gd fmla="val 11538" name="adj"/>
            </a:avLst>
          </a:prstGeom>
          <a:solidFill>
            <a:srgbClr val="FF7A59">
              <a:alpha val="20000"/>
            </a:srgbClr>
          </a:solidFill>
          <a:ln cap="flat" cmpd="sng" w="19050">
            <a:solidFill>
              <a:srgbClr val="FF7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8412480" y="2606040"/>
            <a:ext cx="1188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A5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7A59"/>
                </a:solidFill>
                <a:latin typeface="Calibri"/>
                <a:ea typeface="Calibri"/>
                <a:cs typeface="Calibri"/>
                <a:sym typeface="Calibri"/>
              </a:rPr>
              <a:t>CD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8412480" y="393192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Continuous Deployment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8412480" y="4526280"/>
            <a:ext cx="31089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Every green build automatically goes to prod. No human in the loop.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 txBox="1"/>
          <p:nvPr>
            <p:ph idx="4294967295" type="sldNum"/>
          </p:nvPr>
        </p:nvSpPr>
        <p:spPr>
          <a:xfrm>
            <a:off x="5728716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AA0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/>
          <p:nvPr/>
        </p:nvSpPr>
        <p:spPr>
          <a:xfrm>
            <a:off x="548640" y="566928"/>
            <a:ext cx="118872" cy="118872"/>
          </a:xfrm>
          <a:prstGeom prst="ellipse">
            <a:avLst/>
          </a:prstGeom>
          <a:solidFill>
            <a:srgbClr val="7C5CFF"/>
          </a:solidFill>
          <a:ln cap="flat" cmpd="sng" w="12700">
            <a:solidFill>
              <a:srgbClr val="7C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758952" y="50292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05  •  PIPELINE ANATOMY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548640" y="84124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Anatomy of a CI/CD pipeline.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594360" y="2926080"/>
            <a:ext cx="1493085" cy="21945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7C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685800" y="3017520"/>
            <a:ext cx="131020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685800" y="3383280"/>
            <a:ext cx="131020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685800" y="3977640"/>
            <a:ext cx="131020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Push to Git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2178885" y="2926080"/>
            <a:ext cx="1493085" cy="21945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2270325" y="3017520"/>
            <a:ext cx="131020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2270325" y="3383280"/>
            <a:ext cx="131020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2270325" y="3977640"/>
            <a:ext cx="131020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Compile, package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3763409" y="2926080"/>
            <a:ext cx="1493085" cy="21945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3854849" y="3017520"/>
            <a:ext cx="131020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3854849" y="3383280"/>
            <a:ext cx="131020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3854849" y="3977640"/>
            <a:ext cx="131020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Unit + integration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5347934" y="2926080"/>
            <a:ext cx="1493085" cy="21945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FF7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5439374" y="3017520"/>
            <a:ext cx="131020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7A59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5439374" y="3383280"/>
            <a:ext cx="131020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Quality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5439374" y="3977640"/>
            <a:ext cx="131020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Coverage, SAST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6932458" y="2926080"/>
            <a:ext cx="1493085" cy="21945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FF7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7023898" y="3017520"/>
            <a:ext cx="131020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7A59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7023898" y="3383280"/>
            <a:ext cx="131020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Stage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7023898" y="3977640"/>
            <a:ext cx="131020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Deploy to staging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8516983" y="2926080"/>
            <a:ext cx="1493085" cy="21945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F5B9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8608423" y="3017520"/>
            <a:ext cx="131020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B9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B942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8608423" y="3383280"/>
            <a:ext cx="131020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Approve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8608423" y="3977640"/>
            <a:ext cx="131020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Manual gate (optional)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10101507" y="2926080"/>
            <a:ext cx="1493085" cy="21945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10E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10192947" y="3017520"/>
            <a:ext cx="131020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10192947" y="3383280"/>
            <a:ext cx="131020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Prod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10192947" y="3977640"/>
            <a:ext cx="131020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Promote to production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Jenkins lives at the centre of build → test → release → deploy.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 txBox="1"/>
          <p:nvPr>
            <p:ph idx="4294967295" type="sldNum"/>
          </p:nvPr>
        </p:nvSpPr>
        <p:spPr>
          <a:xfrm>
            <a:off x="5728716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AA0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"/>
          <p:cNvSpPr/>
          <p:nvPr/>
        </p:nvSpPr>
        <p:spPr>
          <a:xfrm>
            <a:off x="548640" y="566928"/>
            <a:ext cx="118872" cy="118872"/>
          </a:xfrm>
          <a:prstGeom prst="ellipse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758952" y="50292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06  •  JENKINS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548640" y="84124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Jenkins?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548640" y="1783080"/>
            <a:ext cx="5669280" cy="44805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777240" y="19202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777240" y="2240280"/>
            <a:ext cx="53035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Jenkins is an open-source, Java-based automation server. It orchestrates anything you can script: builds, tests, deploys, infrastructure, even AI training jobs.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777240" y="37033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WHY IT WON THE 2010s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777240" y="402336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960120" y="40233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Open source, self-hosted, no licensing fees.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777240" y="443484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960120" y="44348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1,800+ plugins for every tool imaginable.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777240" y="484632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960120" y="484632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Pipeline-as-code (Jenkinsfile) since 2016.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777240" y="525780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960120" y="525780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Battle-tested in Fortune 500 production.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6400800" y="1783080"/>
            <a:ext cx="5212080" cy="4480560"/>
          </a:xfrm>
          <a:prstGeom prst="rect">
            <a:avLst/>
          </a:prstGeom>
          <a:solidFill>
            <a:srgbClr val="1D2032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6583680" y="1920240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1,800+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9144000" y="214884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plugins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6583680" y="3017520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200K+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9144000" y="324612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active installations worldwide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6583680" y="4114800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9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7A59"/>
                </a:solidFill>
                <a:latin typeface="Calibri"/>
                <a:ea typeface="Calibri"/>
                <a:cs typeface="Calibri"/>
                <a:sym typeface="Calibri"/>
              </a:rPr>
              <a:t>2011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9144000" y="434340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first stable release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6583680" y="5212080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#1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9144000" y="544068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self-hosted CI/CD tool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 txBox="1"/>
          <p:nvPr>
            <p:ph idx="4294967295" type="sldNum"/>
          </p:nvPr>
        </p:nvSpPr>
        <p:spPr>
          <a:xfrm>
            <a:off x="5728716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AA0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"/>
          <p:cNvSpPr/>
          <p:nvPr/>
        </p:nvSpPr>
        <p:spPr>
          <a:xfrm>
            <a:off x="548640" y="566928"/>
            <a:ext cx="118872" cy="118872"/>
          </a:xfrm>
          <a:prstGeom prst="ellipse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758952" y="50292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07  •  ARCHITECTURE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548640" y="84124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Controller + agents — how Jenkins actually runs.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548640" y="2286000"/>
            <a:ext cx="3200400" cy="347472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7C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777240" y="24231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777240" y="269748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37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F6376"/>
                </a:solidFill>
                <a:latin typeface="Calibri"/>
                <a:ea typeface="Calibri"/>
                <a:cs typeface="Calibri"/>
                <a:sym typeface="Calibri"/>
              </a:rPr>
              <a:t>(formerly: master)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777240" y="31089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● Job configs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777240" y="35204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● Schedules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777240" y="39319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● UI &amp; API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777240" y="43434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● Plugin host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777240" y="47548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● Build queue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0" name="Google Shape;250;p11"/>
          <p:cNvCxnSpPr/>
          <p:nvPr/>
        </p:nvCxnSpPr>
        <p:spPr>
          <a:xfrm>
            <a:off x="3749040" y="3200400"/>
            <a:ext cx="1097280" cy="0"/>
          </a:xfrm>
          <a:prstGeom prst="straightConnector1">
            <a:avLst/>
          </a:prstGeom>
          <a:noFill/>
          <a:ln cap="flat" cmpd="sng" w="25400">
            <a:solidFill>
              <a:srgbClr val="22D3E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1" name="Google Shape;251;p11"/>
          <p:cNvCxnSpPr/>
          <p:nvPr/>
        </p:nvCxnSpPr>
        <p:spPr>
          <a:xfrm>
            <a:off x="3749040" y="4114800"/>
            <a:ext cx="1097280" cy="0"/>
          </a:xfrm>
          <a:prstGeom prst="straightConnector1">
            <a:avLst/>
          </a:prstGeom>
          <a:noFill/>
          <a:ln cap="flat" cmpd="sng" w="25400">
            <a:solidFill>
              <a:srgbClr val="22D3E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2" name="Google Shape;252;p11"/>
          <p:cNvCxnSpPr/>
          <p:nvPr/>
        </p:nvCxnSpPr>
        <p:spPr>
          <a:xfrm>
            <a:off x="3749040" y="5029200"/>
            <a:ext cx="1097280" cy="0"/>
          </a:xfrm>
          <a:prstGeom prst="straightConnector1">
            <a:avLst/>
          </a:prstGeom>
          <a:noFill/>
          <a:ln cap="flat" cmpd="sng" w="25400">
            <a:solidFill>
              <a:srgbClr val="22D3E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3" name="Google Shape;253;p11"/>
          <p:cNvSpPr/>
          <p:nvPr/>
        </p:nvSpPr>
        <p:spPr>
          <a:xfrm>
            <a:off x="4937760" y="2743200"/>
            <a:ext cx="6675120" cy="777240"/>
          </a:xfrm>
          <a:prstGeom prst="rect">
            <a:avLst/>
          </a:prstGeom>
          <a:solidFill>
            <a:srgbClr val="1D2032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5120640" y="285292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AGENT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5120640" y="3127248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Linux  •  Java + Maven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4937760" y="3657600"/>
            <a:ext cx="6675120" cy="777240"/>
          </a:xfrm>
          <a:prstGeom prst="rect">
            <a:avLst/>
          </a:prstGeom>
          <a:solidFill>
            <a:srgbClr val="1D2032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5120640" y="376732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AGENT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5120640" y="4041648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Docker  •  ephemeral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4937760" y="4572000"/>
            <a:ext cx="6675120" cy="777240"/>
          </a:xfrm>
          <a:prstGeom prst="rect">
            <a:avLst/>
          </a:prstGeom>
          <a:solidFill>
            <a:srgbClr val="1D2032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5120640" y="468172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AGENT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5120640" y="4956048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Kubernetes pod  •  on-demand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Controller delegates work to agents. Agents do the heavy lifting. Don't run jobs on the controller in prod.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 txBox="1"/>
          <p:nvPr>
            <p:ph idx="4294967295" type="sldNum"/>
          </p:nvPr>
        </p:nvSpPr>
        <p:spPr>
          <a:xfrm>
            <a:off x="5728716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AA0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"/>
          <p:cNvSpPr/>
          <p:nvPr/>
        </p:nvSpPr>
        <p:spPr>
          <a:xfrm>
            <a:off x="548640" y="566928"/>
            <a:ext cx="118872" cy="118872"/>
          </a:xfrm>
          <a:prstGeom prst="ellipse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758952" y="50292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08  •  VOCABULARY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548640" y="84124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Five terms you must know.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548640" y="1874520"/>
            <a:ext cx="5440680" cy="12801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"/>
          <p:cNvSpPr/>
          <p:nvPr/>
        </p:nvSpPr>
        <p:spPr>
          <a:xfrm>
            <a:off x="548640" y="1874520"/>
            <a:ext cx="73152" cy="1280160"/>
          </a:xfrm>
          <a:prstGeom prst="rect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822960" y="201168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JOB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822960" y="2423160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A configured unit of work (Freestyle, Pipeline, Multibranch).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6126480" y="1874520"/>
            <a:ext cx="5440680" cy="12801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2"/>
          <p:cNvSpPr/>
          <p:nvPr/>
        </p:nvSpPr>
        <p:spPr>
          <a:xfrm>
            <a:off x="6126480" y="1874520"/>
            <a:ext cx="73152" cy="1280160"/>
          </a:xfrm>
          <a:prstGeom prst="rect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2"/>
          <p:cNvSpPr/>
          <p:nvPr/>
        </p:nvSpPr>
        <p:spPr>
          <a:xfrm>
            <a:off x="6400800" y="201168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6400800" y="2423160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A single run of a job. Has #1, #2, ... with a status.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548640" y="3291840"/>
            <a:ext cx="5440680" cy="12801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"/>
          <p:cNvSpPr/>
          <p:nvPr/>
        </p:nvSpPr>
        <p:spPr>
          <a:xfrm>
            <a:off x="548640" y="3291840"/>
            <a:ext cx="73152" cy="1280160"/>
          </a:xfrm>
          <a:prstGeom prst="rect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822960" y="342900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EXECUTOR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822960" y="3840480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A worker slot. One agent can have N executors.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6126480" y="3291840"/>
            <a:ext cx="5440680" cy="12801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6126480" y="3291840"/>
            <a:ext cx="73152" cy="1280160"/>
          </a:xfrm>
          <a:prstGeom prst="rect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6400800" y="342900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NODE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6400800" y="3840480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Any machine Jenkins can run jobs on (controller or agent).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3337560" y="4709160"/>
            <a:ext cx="5440680" cy="12801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3337560" y="4709160"/>
            <a:ext cx="73152" cy="1280160"/>
          </a:xfrm>
          <a:prstGeom prst="rect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3611880" y="48463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WORKSPACE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3611880" y="5257800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The filesystem dir where source is checked out on the agent.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 txBox="1"/>
          <p:nvPr>
            <p:ph idx="4294967295" type="sldNum"/>
          </p:nvPr>
        </p:nvSpPr>
        <p:spPr>
          <a:xfrm>
            <a:off x="5728716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AA0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3"/>
          <p:cNvSpPr/>
          <p:nvPr/>
        </p:nvSpPr>
        <p:spPr>
          <a:xfrm>
            <a:off x="548640" y="566928"/>
            <a:ext cx="118872" cy="118872"/>
          </a:xfrm>
          <a:prstGeom prst="ellipse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"/>
          <p:cNvSpPr/>
          <p:nvPr/>
        </p:nvSpPr>
        <p:spPr>
          <a:xfrm>
            <a:off x="758952" y="50292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09  •  INSTALLATION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548640" y="84124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Pick your install path.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548640" y="1828800"/>
            <a:ext cx="5440680" cy="205740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3"/>
          <p:cNvSpPr/>
          <p:nvPr/>
        </p:nvSpPr>
        <p:spPr>
          <a:xfrm>
            <a:off x="822960" y="20116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DOCKER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4389120" y="2011680"/>
            <a:ext cx="1417320" cy="292608"/>
          </a:xfrm>
          <a:prstGeom prst="rect">
            <a:avLst/>
          </a:prstGeom>
          <a:solidFill>
            <a:srgbClr val="1D2032"/>
          </a:solidFill>
          <a:ln cap="flat" cmpd="sng" w="9525">
            <a:solidFill>
              <a:srgbClr val="7C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3"/>
          <p:cNvSpPr/>
          <p:nvPr/>
        </p:nvSpPr>
        <p:spPr>
          <a:xfrm>
            <a:off x="4389120" y="2011680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Recommended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822960" y="2514600"/>
            <a:ext cx="4892040" cy="548640"/>
          </a:xfrm>
          <a:prstGeom prst="rect">
            <a:avLst/>
          </a:prstGeom>
          <a:solidFill>
            <a:srgbClr val="1D2032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3"/>
          <p:cNvSpPr/>
          <p:nvPr/>
        </p:nvSpPr>
        <p:spPr>
          <a:xfrm>
            <a:off x="914400" y="260604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jenkins/jenkins:lts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822960" y="3200400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Fastest dev setup. One command, isolated.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6126480" y="1828800"/>
            <a:ext cx="5440680" cy="205740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3"/>
          <p:cNvSpPr/>
          <p:nvPr/>
        </p:nvSpPr>
        <p:spPr>
          <a:xfrm>
            <a:off x="6400800" y="20116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WAR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6400800" y="2514600"/>
            <a:ext cx="4892040" cy="548640"/>
          </a:xfrm>
          <a:prstGeom prst="rect">
            <a:avLst/>
          </a:prstGeom>
          <a:solidFill>
            <a:srgbClr val="1D2032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3"/>
          <p:cNvSpPr/>
          <p:nvPr/>
        </p:nvSpPr>
        <p:spPr>
          <a:xfrm>
            <a:off x="6492240" y="260604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java -jar jenkins.war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6400800" y="3200400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Portable. Run on any Java 17+ host.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548640" y="4069080"/>
            <a:ext cx="5440680" cy="205740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3"/>
          <p:cNvSpPr/>
          <p:nvPr/>
        </p:nvSpPr>
        <p:spPr>
          <a:xfrm>
            <a:off x="822960" y="425196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9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7A59"/>
                </a:solidFill>
                <a:latin typeface="Calibri"/>
                <a:ea typeface="Calibri"/>
                <a:cs typeface="Calibri"/>
                <a:sym typeface="Calibri"/>
              </a:rPr>
              <a:t>PACKAGE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822960" y="4754880"/>
            <a:ext cx="4892040" cy="548640"/>
          </a:xfrm>
          <a:prstGeom prst="rect">
            <a:avLst/>
          </a:prstGeom>
          <a:solidFill>
            <a:srgbClr val="1D2032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3"/>
          <p:cNvSpPr/>
          <p:nvPr/>
        </p:nvSpPr>
        <p:spPr>
          <a:xfrm>
            <a:off x="914400" y="484632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apt / yum / brew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822960" y="5440680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Systemd service. Good for VMs.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6126480" y="4069080"/>
            <a:ext cx="5440680" cy="205740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3"/>
          <p:cNvSpPr/>
          <p:nvPr/>
        </p:nvSpPr>
        <p:spPr>
          <a:xfrm>
            <a:off x="6400800" y="425196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K8S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9966960" y="4251960"/>
            <a:ext cx="1417320" cy="292608"/>
          </a:xfrm>
          <a:prstGeom prst="rect">
            <a:avLst/>
          </a:prstGeom>
          <a:solidFill>
            <a:srgbClr val="1D2032"/>
          </a:solidFill>
          <a:ln cap="flat" cmpd="sng" w="9525">
            <a:solidFill>
              <a:srgbClr val="10E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3"/>
          <p:cNvSpPr/>
          <p:nvPr/>
        </p:nvSpPr>
        <p:spPr>
          <a:xfrm>
            <a:off x="9966960" y="4251960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Best for prod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6400800" y="4754880"/>
            <a:ext cx="4892040" cy="548640"/>
          </a:xfrm>
          <a:prstGeom prst="rect">
            <a:avLst/>
          </a:prstGeom>
          <a:solidFill>
            <a:srgbClr val="1D2032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3"/>
          <p:cNvSpPr/>
          <p:nvPr/>
        </p:nvSpPr>
        <p:spPr>
          <a:xfrm>
            <a:off x="6492240" y="484632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helm install jenkins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6400800" y="5440680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Production-grade. Auto-scales agents.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 txBox="1"/>
          <p:nvPr>
            <p:ph idx="4294967295" type="sldNum"/>
          </p:nvPr>
        </p:nvSpPr>
        <p:spPr>
          <a:xfrm>
            <a:off x="5728716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AA0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4"/>
          <p:cNvSpPr/>
          <p:nvPr/>
        </p:nvSpPr>
        <p:spPr>
          <a:xfrm>
            <a:off x="548640" y="566928"/>
            <a:ext cx="118872" cy="118872"/>
          </a:xfrm>
          <a:prstGeom prst="ellipse">
            <a:avLst/>
          </a:prstGeom>
          <a:solidFill>
            <a:srgbClr val="FF7A59"/>
          </a:solidFill>
          <a:ln cap="flat" cmpd="sng" w="12700">
            <a:solidFill>
              <a:srgbClr val="FF7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4"/>
          <p:cNvSpPr/>
          <p:nvPr/>
        </p:nvSpPr>
        <p:spPr>
          <a:xfrm>
            <a:off x="758952" y="50292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9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7A59"/>
                </a:solidFill>
                <a:latin typeface="Calibri"/>
                <a:ea typeface="Calibri"/>
                <a:cs typeface="Calibri"/>
                <a:sym typeface="Calibri"/>
              </a:rPr>
              <a:t>LAB 1  •  HANDS-ON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548640" y="84124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Install Jenkins via Docker.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548640" y="1737360"/>
            <a:ext cx="1463040" cy="146304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FF7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4"/>
          <p:cNvSpPr/>
          <p:nvPr/>
        </p:nvSpPr>
        <p:spPr>
          <a:xfrm>
            <a:off x="548640" y="178308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A5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7A59"/>
                </a:solidFill>
                <a:latin typeface="Calibri"/>
                <a:ea typeface="Calibri"/>
                <a:cs typeface="Calibri"/>
                <a:sym typeface="Calibri"/>
              </a:rPr>
              <a:t>LAB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548640" y="2103120"/>
            <a:ext cx="1463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2240280" y="1737360"/>
            <a:ext cx="6766560" cy="44805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4"/>
          <p:cNvSpPr/>
          <p:nvPr/>
        </p:nvSpPr>
        <p:spPr>
          <a:xfrm>
            <a:off x="2423160" y="1828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STEPS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2423160" y="2148840"/>
            <a:ext cx="64008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01   </a:t>
            </a:r>
            <a:r>
              <a:rPr b="0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Pull the image:  docker pull jenkins/jenkins:lts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DEEF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C5C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02   </a:t>
            </a:r>
            <a:r>
              <a:rPr b="0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Create a host volume:  docker volume create jenkins-home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DEEF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C5C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03   </a:t>
            </a:r>
            <a:r>
              <a:rPr b="0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Run:  docker run -d -p 8080:8080 -p 50000:50000 -v jenkins-home:/var/jenkins_home --name jenkins jenkins/jenkins:lts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DEEF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C5C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04   </a:t>
            </a:r>
            <a:r>
              <a:rPr b="0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Get the initial admin password:  docker exec jenkins cat /var/jenkins_home/secrets/initialAdminPassword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DEEF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C5C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05   </a:t>
            </a:r>
            <a:r>
              <a:rPr b="0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Open http://localhost:8080, paste the password, install suggested plugins.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DEEF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C5C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06   </a:t>
            </a:r>
            <a:r>
              <a:rPr b="0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Create your first admin user.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9189720" y="1737360"/>
            <a:ext cx="2468880" cy="4480560"/>
          </a:xfrm>
          <a:prstGeom prst="rect">
            <a:avLst/>
          </a:prstGeom>
          <a:solidFill>
            <a:srgbClr val="1D2032"/>
          </a:solidFill>
          <a:ln cap="flat" cmpd="sng" w="9525">
            <a:solidFill>
              <a:srgbClr val="10E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4"/>
          <p:cNvSpPr/>
          <p:nvPr/>
        </p:nvSpPr>
        <p:spPr>
          <a:xfrm>
            <a:off x="9326880" y="18288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EXPECTED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9326880" y="2148840"/>
            <a:ext cx="21945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A working Jenkins controller at http://localhost:8080, suggested plugins installed, and you logged in as admin.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 txBox="1"/>
          <p:nvPr>
            <p:ph idx="4294967295" type="sldNum"/>
          </p:nvPr>
        </p:nvSpPr>
        <p:spPr>
          <a:xfrm>
            <a:off x="5728716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AA0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5"/>
          <p:cNvSpPr/>
          <p:nvPr/>
        </p:nvSpPr>
        <p:spPr>
          <a:xfrm>
            <a:off x="548640" y="566928"/>
            <a:ext cx="118872" cy="118872"/>
          </a:xfrm>
          <a:prstGeom prst="ellipse">
            <a:avLst/>
          </a:prstGeom>
          <a:solidFill>
            <a:srgbClr val="FF7A59"/>
          </a:solidFill>
          <a:ln cap="flat" cmpd="sng" w="12700">
            <a:solidFill>
              <a:srgbClr val="FF7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5"/>
          <p:cNvSpPr/>
          <p:nvPr/>
        </p:nvSpPr>
        <p:spPr>
          <a:xfrm>
            <a:off x="758952" y="50292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9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7A59"/>
                </a:solidFill>
                <a:latin typeface="Calibri"/>
                <a:ea typeface="Calibri"/>
                <a:cs typeface="Calibri"/>
                <a:sym typeface="Calibri"/>
              </a:rPr>
              <a:t>10  •  UI TOUR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5"/>
          <p:cNvSpPr/>
          <p:nvPr/>
        </p:nvSpPr>
        <p:spPr>
          <a:xfrm>
            <a:off x="548640" y="84124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Manage Jenkins — where the power tools live.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/>
          <p:nvPr/>
        </p:nvSpPr>
        <p:spPr>
          <a:xfrm>
            <a:off x="548640" y="1874520"/>
            <a:ext cx="2651760" cy="201168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5"/>
          <p:cNvSpPr/>
          <p:nvPr/>
        </p:nvSpPr>
        <p:spPr>
          <a:xfrm>
            <a:off x="731520" y="205740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System Config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731520" y="2560320"/>
            <a:ext cx="23774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Global env vars, Jenkins URL, executor count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5"/>
          <p:cNvSpPr/>
          <p:nvPr/>
        </p:nvSpPr>
        <p:spPr>
          <a:xfrm>
            <a:off x="3337560" y="1874520"/>
            <a:ext cx="2651760" cy="201168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5"/>
          <p:cNvSpPr/>
          <p:nvPr/>
        </p:nvSpPr>
        <p:spPr>
          <a:xfrm>
            <a:off x="3520440" y="205740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Tools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3520440" y="2560320"/>
            <a:ext cx="23774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JDK, Maven, NodeJS, Docker — registered tools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6126480" y="1874520"/>
            <a:ext cx="2651760" cy="201168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5"/>
          <p:cNvSpPr/>
          <p:nvPr/>
        </p:nvSpPr>
        <p:spPr>
          <a:xfrm>
            <a:off x="6309360" y="205740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Plugins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6309360" y="2560320"/>
            <a:ext cx="23774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Install, update, audit. Restart triggers here.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8915400" y="1874520"/>
            <a:ext cx="2651760" cy="201168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5"/>
          <p:cNvSpPr/>
          <p:nvPr/>
        </p:nvSpPr>
        <p:spPr>
          <a:xfrm>
            <a:off x="9098280" y="205740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Nodes &amp; Clouds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9098280" y="2560320"/>
            <a:ext cx="23774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Static agents, EC2 / Kubernetes cloud agents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548640" y="4069080"/>
            <a:ext cx="2651760" cy="201168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5"/>
          <p:cNvSpPr/>
          <p:nvPr/>
        </p:nvSpPr>
        <p:spPr>
          <a:xfrm>
            <a:off x="731520" y="425196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Credentials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731520" y="4754880"/>
            <a:ext cx="23774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Centralised secret store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5"/>
          <p:cNvSpPr/>
          <p:nvPr/>
        </p:nvSpPr>
        <p:spPr>
          <a:xfrm>
            <a:off x="3337560" y="4069080"/>
            <a:ext cx="2651760" cy="201168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5"/>
          <p:cNvSpPr/>
          <p:nvPr/>
        </p:nvSpPr>
        <p:spPr>
          <a:xfrm>
            <a:off x="3520440" y="425196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3520440" y="4754880"/>
            <a:ext cx="23774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Auth strategy, authz matrix, CSRF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6126480" y="4069080"/>
            <a:ext cx="2651760" cy="201168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5"/>
          <p:cNvSpPr/>
          <p:nvPr/>
        </p:nvSpPr>
        <p:spPr>
          <a:xfrm>
            <a:off x="6309360" y="425196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System Log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5"/>
          <p:cNvSpPr/>
          <p:nvPr/>
        </p:nvSpPr>
        <p:spPr>
          <a:xfrm>
            <a:off x="6309360" y="4754880"/>
            <a:ext cx="23774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Live Jenkins logs — debug plugin errors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8915400" y="4069080"/>
            <a:ext cx="2651760" cy="201168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5"/>
          <p:cNvSpPr/>
          <p:nvPr/>
        </p:nvSpPr>
        <p:spPr>
          <a:xfrm>
            <a:off x="9098280" y="425196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Script Console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9098280" y="4754880"/>
            <a:ext cx="23774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Groovy REPL with full Jenkins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5"/>
          <p:cNvSpPr txBox="1"/>
          <p:nvPr>
            <p:ph idx="4294967295" type="sldNum"/>
          </p:nvPr>
        </p:nvSpPr>
        <p:spPr>
          <a:xfrm>
            <a:off x="5728716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AA0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6"/>
          <p:cNvSpPr/>
          <p:nvPr/>
        </p:nvSpPr>
        <p:spPr>
          <a:xfrm>
            <a:off x="548640" y="566928"/>
            <a:ext cx="118872" cy="118872"/>
          </a:xfrm>
          <a:prstGeom prst="ellipse">
            <a:avLst/>
          </a:prstGeom>
          <a:solidFill>
            <a:srgbClr val="10E0A0"/>
          </a:solidFill>
          <a:ln cap="flat" cmpd="sng" w="12700">
            <a:solidFill>
              <a:srgbClr val="10E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6"/>
          <p:cNvSpPr/>
          <p:nvPr/>
        </p:nvSpPr>
        <p:spPr>
          <a:xfrm>
            <a:off x="758952" y="50292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11  •  FREESTYLE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6"/>
          <p:cNvSpPr/>
          <p:nvPr/>
        </p:nvSpPr>
        <p:spPr>
          <a:xfrm>
            <a:off x="548640" y="84124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four parts of every Freestyle job.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6"/>
          <p:cNvSpPr/>
          <p:nvPr/>
        </p:nvSpPr>
        <p:spPr>
          <a:xfrm>
            <a:off x="548640" y="2286000"/>
            <a:ext cx="2697480" cy="365760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7C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6"/>
          <p:cNvSpPr/>
          <p:nvPr/>
        </p:nvSpPr>
        <p:spPr>
          <a:xfrm>
            <a:off x="731520" y="246888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6"/>
          <p:cNvSpPr/>
          <p:nvPr/>
        </p:nvSpPr>
        <p:spPr>
          <a:xfrm>
            <a:off x="731520" y="324612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SCM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6"/>
          <p:cNvSpPr/>
          <p:nvPr/>
        </p:nvSpPr>
        <p:spPr>
          <a:xfrm>
            <a:off x="731520" y="3794760"/>
            <a:ext cx="23774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Where to pull source (Git, SVN, none)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9" name="Google Shape;389;p16"/>
          <p:cNvCxnSpPr/>
          <p:nvPr/>
        </p:nvCxnSpPr>
        <p:spPr>
          <a:xfrm>
            <a:off x="3291840" y="4023360"/>
            <a:ext cx="109728" cy="0"/>
          </a:xfrm>
          <a:prstGeom prst="straightConnector1">
            <a:avLst/>
          </a:prstGeom>
          <a:noFill/>
          <a:ln cap="flat" cmpd="sng" w="25400">
            <a:solidFill>
              <a:srgbClr val="33384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0" name="Google Shape;390;p16"/>
          <p:cNvSpPr/>
          <p:nvPr/>
        </p:nvSpPr>
        <p:spPr>
          <a:xfrm>
            <a:off x="3410712" y="2286000"/>
            <a:ext cx="2697480" cy="365760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6"/>
          <p:cNvSpPr/>
          <p:nvPr/>
        </p:nvSpPr>
        <p:spPr>
          <a:xfrm>
            <a:off x="3593592" y="246888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6"/>
          <p:cNvSpPr/>
          <p:nvPr/>
        </p:nvSpPr>
        <p:spPr>
          <a:xfrm>
            <a:off x="3593592" y="324612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TRIGGERS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6"/>
          <p:cNvSpPr/>
          <p:nvPr/>
        </p:nvSpPr>
        <p:spPr>
          <a:xfrm>
            <a:off x="3593592" y="3794760"/>
            <a:ext cx="23774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What kicks the job off (poll, webhook, cron)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4" name="Google Shape;394;p16"/>
          <p:cNvCxnSpPr/>
          <p:nvPr/>
        </p:nvCxnSpPr>
        <p:spPr>
          <a:xfrm>
            <a:off x="6153912" y="4023360"/>
            <a:ext cx="109728" cy="0"/>
          </a:xfrm>
          <a:prstGeom prst="straightConnector1">
            <a:avLst/>
          </a:prstGeom>
          <a:noFill/>
          <a:ln cap="flat" cmpd="sng" w="25400">
            <a:solidFill>
              <a:srgbClr val="33384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5" name="Google Shape;395;p16"/>
          <p:cNvSpPr/>
          <p:nvPr/>
        </p:nvSpPr>
        <p:spPr>
          <a:xfrm>
            <a:off x="6272784" y="2286000"/>
            <a:ext cx="2697480" cy="365760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FF7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6"/>
          <p:cNvSpPr/>
          <p:nvPr/>
        </p:nvSpPr>
        <p:spPr>
          <a:xfrm>
            <a:off x="6455664" y="246888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9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7A59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6"/>
          <p:cNvSpPr/>
          <p:nvPr/>
        </p:nvSpPr>
        <p:spPr>
          <a:xfrm>
            <a:off x="6455664" y="324612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BUILD STEPS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6"/>
          <p:cNvSpPr/>
          <p:nvPr/>
        </p:nvSpPr>
        <p:spPr>
          <a:xfrm>
            <a:off x="6455664" y="3794760"/>
            <a:ext cx="23774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What to do (shell, Maven, Gradle, Docker)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9" name="Google Shape;399;p16"/>
          <p:cNvCxnSpPr/>
          <p:nvPr/>
        </p:nvCxnSpPr>
        <p:spPr>
          <a:xfrm>
            <a:off x="9015984" y="4023360"/>
            <a:ext cx="109728" cy="0"/>
          </a:xfrm>
          <a:prstGeom prst="straightConnector1">
            <a:avLst/>
          </a:prstGeom>
          <a:noFill/>
          <a:ln cap="flat" cmpd="sng" w="25400">
            <a:solidFill>
              <a:srgbClr val="33384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0" name="Google Shape;400;p16"/>
          <p:cNvSpPr/>
          <p:nvPr/>
        </p:nvSpPr>
        <p:spPr>
          <a:xfrm>
            <a:off x="9134856" y="2286000"/>
            <a:ext cx="2697480" cy="365760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10E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6"/>
          <p:cNvSpPr/>
          <p:nvPr/>
        </p:nvSpPr>
        <p:spPr>
          <a:xfrm>
            <a:off x="9317736" y="246888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9317736" y="324612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POST-BUILD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6"/>
          <p:cNvSpPr/>
          <p:nvPr/>
        </p:nvSpPr>
        <p:spPr>
          <a:xfrm>
            <a:off x="9317736" y="3794760"/>
            <a:ext cx="23774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Notify, archive, trigger next job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6"/>
          <p:cNvSpPr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Every Freestyle job = SCM → Trigger → Steps → Post-build. Once you see the pattern, Pipeline becomes obvious.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6"/>
          <p:cNvSpPr txBox="1"/>
          <p:nvPr>
            <p:ph idx="4294967295" type="sldNum"/>
          </p:nvPr>
        </p:nvSpPr>
        <p:spPr>
          <a:xfrm>
            <a:off x="5728716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AA0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7"/>
          <p:cNvSpPr/>
          <p:nvPr/>
        </p:nvSpPr>
        <p:spPr>
          <a:xfrm>
            <a:off x="548640" y="566928"/>
            <a:ext cx="118872" cy="118872"/>
          </a:xfrm>
          <a:prstGeom prst="ellipse">
            <a:avLst/>
          </a:prstGeom>
          <a:solidFill>
            <a:srgbClr val="10E0A0"/>
          </a:solidFill>
          <a:ln cap="flat" cmpd="sng" w="12700">
            <a:solidFill>
              <a:srgbClr val="10E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7"/>
          <p:cNvSpPr/>
          <p:nvPr/>
        </p:nvSpPr>
        <p:spPr>
          <a:xfrm>
            <a:off x="758952" y="50292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12  •  DECISION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7"/>
          <p:cNvSpPr/>
          <p:nvPr/>
        </p:nvSpPr>
        <p:spPr>
          <a:xfrm>
            <a:off x="548640" y="84124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Freestyle vs Pipeline.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7"/>
          <p:cNvSpPr/>
          <p:nvPr/>
        </p:nvSpPr>
        <p:spPr>
          <a:xfrm>
            <a:off x="548640" y="1920240"/>
            <a:ext cx="11064240" cy="502920"/>
          </a:xfrm>
          <a:prstGeom prst="rect">
            <a:avLst/>
          </a:prstGeom>
          <a:solidFill>
            <a:srgbClr val="1D2032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7"/>
          <p:cNvSpPr/>
          <p:nvPr/>
        </p:nvSpPr>
        <p:spPr>
          <a:xfrm>
            <a:off x="713232" y="1993392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Criteria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7"/>
          <p:cNvSpPr/>
          <p:nvPr/>
        </p:nvSpPr>
        <p:spPr>
          <a:xfrm>
            <a:off x="4828032" y="1993392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Freestyle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7"/>
          <p:cNvSpPr/>
          <p:nvPr/>
        </p:nvSpPr>
        <p:spPr>
          <a:xfrm>
            <a:off x="8028432" y="1993392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Pipeline (Jenkinsfile)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7"/>
          <p:cNvSpPr/>
          <p:nvPr/>
        </p:nvSpPr>
        <p:spPr>
          <a:xfrm>
            <a:off x="548640" y="2450592"/>
            <a:ext cx="11064240" cy="50292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7"/>
          <p:cNvSpPr/>
          <p:nvPr/>
        </p:nvSpPr>
        <p:spPr>
          <a:xfrm>
            <a:off x="713232" y="2523744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Lives in Git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7"/>
          <p:cNvSpPr/>
          <p:nvPr/>
        </p:nvSpPr>
        <p:spPr>
          <a:xfrm>
            <a:off x="4828032" y="2523744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7"/>
          <p:cNvSpPr/>
          <p:nvPr/>
        </p:nvSpPr>
        <p:spPr>
          <a:xfrm>
            <a:off x="8028432" y="2523744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7"/>
          <p:cNvSpPr/>
          <p:nvPr/>
        </p:nvSpPr>
        <p:spPr>
          <a:xfrm>
            <a:off x="548640" y="2980944"/>
            <a:ext cx="11064240" cy="50292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7"/>
          <p:cNvSpPr/>
          <p:nvPr/>
        </p:nvSpPr>
        <p:spPr>
          <a:xfrm>
            <a:off x="713232" y="3054096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Code review possible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7"/>
          <p:cNvSpPr/>
          <p:nvPr/>
        </p:nvSpPr>
        <p:spPr>
          <a:xfrm>
            <a:off x="4828032" y="3054096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7"/>
          <p:cNvSpPr/>
          <p:nvPr/>
        </p:nvSpPr>
        <p:spPr>
          <a:xfrm>
            <a:off x="8028432" y="3054096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7"/>
          <p:cNvSpPr/>
          <p:nvPr/>
        </p:nvSpPr>
        <p:spPr>
          <a:xfrm>
            <a:off x="548640" y="3511296"/>
            <a:ext cx="11064240" cy="50292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7"/>
          <p:cNvSpPr/>
          <p:nvPr/>
        </p:nvSpPr>
        <p:spPr>
          <a:xfrm>
            <a:off x="713232" y="3584448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Multi-branch friendly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7"/>
          <p:cNvSpPr/>
          <p:nvPr/>
        </p:nvSpPr>
        <p:spPr>
          <a:xfrm>
            <a:off x="4828032" y="358444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7"/>
          <p:cNvSpPr/>
          <p:nvPr/>
        </p:nvSpPr>
        <p:spPr>
          <a:xfrm>
            <a:off x="8028432" y="3584448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7"/>
          <p:cNvSpPr/>
          <p:nvPr/>
        </p:nvSpPr>
        <p:spPr>
          <a:xfrm>
            <a:off x="548640" y="4041648"/>
            <a:ext cx="11064240" cy="50292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7"/>
          <p:cNvSpPr/>
          <p:nvPr/>
        </p:nvSpPr>
        <p:spPr>
          <a:xfrm>
            <a:off x="713232" y="411480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Conditional logic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7"/>
          <p:cNvSpPr/>
          <p:nvPr/>
        </p:nvSpPr>
        <p:spPr>
          <a:xfrm>
            <a:off x="4828032" y="411480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Limited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7"/>
          <p:cNvSpPr/>
          <p:nvPr/>
        </p:nvSpPr>
        <p:spPr>
          <a:xfrm>
            <a:off x="8028432" y="411480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Full programmability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7"/>
          <p:cNvSpPr/>
          <p:nvPr/>
        </p:nvSpPr>
        <p:spPr>
          <a:xfrm>
            <a:off x="548640" y="4572000"/>
            <a:ext cx="11064240" cy="50292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7"/>
          <p:cNvSpPr/>
          <p:nvPr/>
        </p:nvSpPr>
        <p:spPr>
          <a:xfrm>
            <a:off x="713232" y="4645152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Parallel stages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7"/>
          <p:cNvSpPr/>
          <p:nvPr/>
        </p:nvSpPr>
        <p:spPr>
          <a:xfrm>
            <a:off x="4828032" y="4645152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7"/>
          <p:cNvSpPr/>
          <p:nvPr/>
        </p:nvSpPr>
        <p:spPr>
          <a:xfrm>
            <a:off x="8028432" y="4645152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7"/>
          <p:cNvSpPr/>
          <p:nvPr/>
        </p:nvSpPr>
        <p:spPr>
          <a:xfrm>
            <a:off x="548640" y="5102352"/>
            <a:ext cx="11064240" cy="50292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7"/>
          <p:cNvSpPr/>
          <p:nvPr/>
        </p:nvSpPr>
        <p:spPr>
          <a:xfrm>
            <a:off x="713232" y="5175504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Approval gates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7"/>
          <p:cNvSpPr/>
          <p:nvPr/>
        </p:nvSpPr>
        <p:spPr>
          <a:xfrm>
            <a:off x="4828032" y="5175504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Plugin needed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7"/>
          <p:cNvSpPr/>
          <p:nvPr/>
        </p:nvSpPr>
        <p:spPr>
          <a:xfrm>
            <a:off x="8028432" y="5175504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Built-in input step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7"/>
          <p:cNvSpPr/>
          <p:nvPr/>
        </p:nvSpPr>
        <p:spPr>
          <a:xfrm>
            <a:off x="548640" y="5632704"/>
            <a:ext cx="11064240" cy="50292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7"/>
          <p:cNvSpPr/>
          <p:nvPr/>
        </p:nvSpPr>
        <p:spPr>
          <a:xfrm>
            <a:off x="713232" y="5705856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Best for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7"/>
          <p:cNvSpPr/>
          <p:nvPr/>
        </p:nvSpPr>
        <p:spPr>
          <a:xfrm>
            <a:off x="4828032" y="5705856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5-min admin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7"/>
          <p:cNvSpPr/>
          <p:nvPr/>
        </p:nvSpPr>
        <p:spPr>
          <a:xfrm>
            <a:off x="8028432" y="5705856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Real CI/CD pipelines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7"/>
          <p:cNvSpPr txBox="1"/>
          <p:nvPr>
            <p:ph idx="4294967295" type="sldNum"/>
          </p:nvPr>
        </p:nvSpPr>
        <p:spPr>
          <a:xfrm>
            <a:off x="5728716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AA0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8"/>
          <p:cNvSpPr/>
          <p:nvPr/>
        </p:nvSpPr>
        <p:spPr>
          <a:xfrm>
            <a:off x="548640" y="566928"/>
            <a:ext cx="118872" cy="118872"/>
          </a:xfrm>
          <a:prstGeom prst="ellipse">
            <a:avLst/>
          </a:prstGeom>
          <a:solidFill>
            <a:srgbClr val="FF7A59"/>
          </a:solidFill>
          <a:ln cap="flat" cmpd="sng" w="12700">
            <a:solidFill>
              <a:srgbClr val="FF7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8"/>
          <p:cNvSpPr/>
          <p:nvPr/>
        </p:nvSpPr>
        <p:spPr>
          <a:xfrm>
            <a:off x="758952" y="50292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9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7A59"/>
                </a:solidFill>
                <a:latin typeface="Calibri"/>
                <a:ea typeface="Calibri"/>
                <a:cs typeface="Calibri"/>
                <a:sym typeface="Calibri"/>
              </a:rPr>
              <a:t>LAB 2  •  HANDS-ON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8"/>
          <p:cNvSpPr/>
          <p:nvPr/>
        </p:nvSpPr>
        <p:spPr>
          <a:xfrm>
            <a:off x="548640" y="84124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your first Freestyle job.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8"/>
          <p:cNvSpPr/>
          <p:nvPr/>
        </p:nvSpPr>
        <p:spPr>
          <a:xfrm>
            <a:off x="548640" y="1737360"/>
            <a:ext cx="1463040" cy="146304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FF7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8"/>
          <p:cNvSpPr/>
          <p:nvPr/>
        </p:nvSpPr>
        <p:spPr>
          <a:xfrm>
            <a:off x="548640" y="178308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A5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7A59"/>
                </a:solidFill>
                <a:latin typeface="Calibri"/>
                <a:ea typeface="Calibri"/>
                <a:cs typeface="Calibri"/>
                <a:sym typeface="Calibri"/>
              </a:rPr>
              <a:t>LAB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548640" y="2103120"/>
            <a:ext cx="1463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2240280" y="1737360"/>
            <a:ext cx="6766560" cy="44805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8"/>
          <p:cNvSpPr/>
          <p:nvPr/>
        </p:nvSpPr>
        <p:spPr>
          <a:xfrm>
            <a:off x="2423160" y="1828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STEPS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8"/>
          <p:cNvSpPr/>
          <p:nvPr/>
        </p:nvSpPr>
        <p:spPr>
          <a:xfrm>
            <a:off x="2423160" y="2148840"/>
            <a:ext cx="64008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01   </a:t>
            </a:r>
            <a:r>
              <a:rPr b="0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New Item → Freestyle project → 'hello-jenkins'.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DEEF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C5C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02   </a:t>
            </a:r>
            <a:r>
              <a:rPr b="0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Build Triggers → 'Build periodically' → H/5 * * * *.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DEEF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C5C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03   </a:t>
            </a:r>
            <a:r>
              <a:rPr b="0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Build Step → Execute shell → echo "Build #$BUILD_NUMBER on $(hostname)".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DEEF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C5C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04   </a:t>
            </a:r>
            <a:r>
              <a:rPr b="0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Post-build Actions → Archive artifacts → **/*.log.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DEEF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C5C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05   </a:t>
            </a:r>
            <a:r>
              <a:rPr b="0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Save → click Build Now → inspect console output.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8"/>
          <p:cNvSpPr/>
          <p:nvPr/>
        </p:nvSpPr>
        <p:spPr>
          <a:xfrm>
            <a:off x="9189720" y="1737360"/>
            <a:ext cx="2468880" cy="4480560"/>
          </a:xfrm>
          <a:prstGeom prst="rect">
            <a:avLst/>
          </a:prstGeom>
          <a:solidFill>
            <a:srgbClr val="1D2032"/>
          </a:solidFill>
          <a:ln cap="flat" cmpd="sng" w="9525">
            <a:solidFill>
              <a:srgbClr val="10E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8"/>
          <p:cNvSpPr/>
          <p:nvPr/>
        </p:nvSpPr>
        <p:spPr>
          <a:xfrm>
            <a:off x="9326880" y="18288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EXPECTED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8"/>
          <p:cNvSpPr/>
          <p:nvPr/>
        </p:nvSpPr>
        <p:spPr>
          <a:xfrm>
            <a:off x="9326880" y="2148840"/>
            <a:ext cx="21945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A Freestyle job that runs every 5 minutes, prints a build number, and archives a log.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8"/>
          <p:cNvSpPr txBox="1"/>
          <p:nvPr>
            <p:ph idx="4294967295" type="sldNum"/>
          </p:nvPr>
        </p:nvSpPr>
        <p:spPr>
          <a:xfrm>
            <a:off x="5728716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AA0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9"/>
          <p:cNvSpPr/>
          <p:nvPr/>
        </p:nvSpPr>
        <p:spPr>
          <a:xfrm>
            <a:off x="548640" y="566928"/>
            <a:ext cx="118872" cy="118872"/>
          </a:xfrm>
          <a:prstGeom prst="ellipse">
            <a:avLst/>
          </a:prstGeom>
          <a:solidFill>
            <a:srgbClr val="7C5CFF"/>
          </a:solidFill>
          <a:ln cap="flat" cmpd="sng" w="12700">
            <a:solidFill>
              <a:srgbClr val="7C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9"/>
          <p:cNvSpPr/>
          <p:nvPr/>
        </p:nvSpPr>
        <p:spPr>
          <a:xfrm>
            <a:off x="758952" y="50292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13  •  PIPELINE AS CODE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9"/>
          <p:cNvSpPr/>
          <p:nvPr/>
        </p:nvSpPr>
        <p:spPr>
          <a:xfrm>
            <a:off x="548640" y="84124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Jenkinsfile is non-negotiable.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9"/>
          <p:cNvSpPr/>
          <p:nvPr/>
        </p:nvSpPr>
        <p:spPr>
          <a:xfrm>
            <a:off x="548640" y="1828800"/>
            <a:ext cx="3611880" cy="205740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9"/>
          <p:cNvSpPr/>
          <p:nvPr/>
        </p:nvSpPr>
        <p:spPr>
          <a:xfrm>
            <a:off x="548640" y="1828800"/>
            <a:ext cx="73152" cy="2057400"/>
          </a:xfrm>
          <a:prstGeom prst="rect">
            <a:avLst/>
          </a:prstGeom>
          <a:solidFill>
            <a:srgbClr val="7C5CFF"/>
          </a:solidFill>
          <a:ln cap="flat" cmpd="sng" w="12700">
            <a:solidFill>
              <a:srgbClr val="7C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9"/>
          <p:cNvSpPr/>
          <p:nvPr/>
        </p:nvSpPr>
        <p:spPr>
          <a:xfrm>
            <a:off x="822960" y="210312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VERSIONED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9"/>
          <p:cNvSpPr/>
          <p:nvPr/>
        </p:nvSpPr>
        <p:spPr>
          <a:xfrm>
            <a:off x="822960" y="2697480"/>
            <a:ext cx="3200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Lives in Git. Reviewable. Restorable. Diffable.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9"/>
          <p:cNvSpPr/>
          <p:nvPr/>
        </p:nvSpPr>
        <p:spPr>
          <a:xfrm>
            <a:off x="4297680" y="1828800"/>
            <a:ext cx="3611880" cy="205740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9"/>
          <p:cNvSpPr/>
          <p:nvPr/>
        </p:nvSpPr>
        <p:spPr>
          <a:xfrm>
            <a:off x="4297680" y="1828800"/>
            <a:ext cx="73152" cy="2057400"/>
          </a:xfrm>
          <a:prstGeom prst="rect">
            <a:avLst/>
          </a:prstGeom>
          <a:solidFill>
            <a:srgbClr val="7C5CFF"/>
          </a:solidFill>
          <a:ln cap="flat" cmpd="sng" w="12700">
            <a:solidFill>
              <a:srgbClr val="7C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9"/>
          <p:cNvSpPr/>
          <p:nvPr/>
        </p:nvSpPr>
        <p:spPr>
          <a:xfrm>
            <a:off x="4572000" y="210312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BRANCHED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9"/>
          <p:cNvSpPr/>
          <p:nvPr/>
        </p:nvSpPr>
        <p:spPr>
          <a:xfrm>
            <a:off x="4572000" y="2697480"/>
            <a:ext cx="3200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Each branch can have its own pipeline.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9"/>
          <p:cNvSpPr/>
          <p:nvPr/>
        </p:nvSpPr>
        <p:spPr>
          <a:xfrm>
            <a:off x="8046720" y="1828800"/>
            <a:ext cx="3611880" cy="205740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9"/>
          <p:cNvSpPr/>
          <p:nvPr/>
        </p:nvSpPr>
        <p:spPr>
          <a:xfrm>
            <a:off x="8046720" y="1828800"/>
            <a:ext cx="73152" cy="2057400"/>
          </a:xfrm>
          <a:prstGeom prst="rect">
            <a:avLst/>
          </a:prstGeom>
          <a:solidFill>
            <a:srgbClr val="7C5CFF"/>
          </a:solidFill>
          <a:ln cap="flat" cmpd="sng" w="12700">
            <a:solidFill>
              <a:srgbClr val="7C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9"/>
          <p:cNvSpPr/>
          <p:nvPr/>
        </p:nvSpPr>
        <p:spPr>
          <a:xfrm>
            <a:off x="8321040" y="210312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PROGRAMMABLE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9"/>
          <p:cNvSpPr/>
          <p:nvPr/>
        </p:nvSpPr>
        <p:spPr>
          <a:xfrm>
            <a:off x="8321040" y="2697480"/>
            <a:ext cx="3200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Loops, conditionals, parallel — any workflow.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9"/>
          <p:cNvSpPr/>
          <p:nvPr/>
        </p:nvSpPr>
        <p:spPr>
          <a:xfrm>
            <a:off x="548640" y="4069080"/>
            <a:ext cx="3611880" cy="205740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9"/>
          <p:cNvSpPr/>
          <p:nvPr/>
        </p:nvSpPr>
        <p:spPr>
          <a:xfrm>
            <a:off x="548640" y="4069080"/>
            <a:ext cx="73152" cy="2057400"/>
          </a:xfrm>
          <a:prstGeom prst="rect">
            <a:avLst/>
          </a:prstGeom>
          <a:solidFill>
            <a:srgbClr val="7C5CFF"/>
          </a:solidFill>
          <a:ln cap="flat" cmpd="sng" w="12700">
            <a:solidFill>
              <a:srgbClr val="7C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9"/>
          <p:cNvSpPr/>
          <p:nvPr/>
        </p:nvSpPr>
        <p:spPr>
          <a:xfrm>
            <a:off x="822960" y="43434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PORTABLE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9"/>
          <p:cNvSpPr/>
          <p:nvPr/>
        </p:nvSpPr>
        <p:spPr>
          <a:xfrm>
            <a:off x="822960" y="4937760"/>
            <a:ext cx="3200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Migrate Jenkins servers — your Jenkinsfile travels.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9"/>
          <p:cNvSpPr/>
          <p:nvPr/>
        </p:nvSpPr>
        <p:spPr>
          <a:xfrm>
            <a:off x="4297680" y="4069080"/>
            <a:ext cx="3611880" cy="205740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9"/>
          <p:cNvSpPr/>
          <p:nvPr/>
        </p:nvSpPr>
        <p:spPr>
          <a:xfrm>
            <a:off x="4297680" y="4069080"/>
            <a:ext cx="73152" cy="2057400"/>
          </a:xfrm>
          <a:prstGeom prst="rect">
            <a:avLst/>
          </a:prstGeom>
          <a:solidFill>
            <a:srgbClr val="7C5CFF"/>
          </a:solidFill>
          <a:ln cap="flat" cmpd="sng" w="12700">
            <a:solidFill>
              <a:srgbClr val="7C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9"/>
          <p:cNvSpPr/>
          <p:nvPr/>
        </p:nvSpPr>
        <p:spPr>
          <a:xfrm>
            <a:off x="4572000" y="43434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AUDITABLE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9"/>
          <p:cNvSpPr/>
          <p:nvPr/>
        </p:nvSpPr>
        <p:spPr>
          <a:xfrm>
            <a:off x="4572000" y="4937760"/>
            <a:ext cx="3200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Every change is a commit. Compliance gets easier.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9"/>
          <p:cNvSpPr/>
          <p:nvPr/>
        </p:nvSpPr>
        <p:spPr>
          <a:xfrm>
            <a:off x="8046720" y="4069080"/>
            <a:ext cx="3611880" cy="205740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9"/>
          <p:cNvSpPr/>
          <p:nvPr/>
        </p:nvSpPr>
        <p:spPr>
          <a:xfrm>
            <a:off x="8046720" y="4069080"/>
            <a:ext cx="73152" cy="2057400"/>
          </a:xfrm>
          <a:prstGeom prst="rect">
            <a:avLst/>
          </a:prstGeom>
          <a:solidFill>
            <a:srgbClr val="7C5CFF"/>
          </a:solidFill>
          <a:ln cap="flat" cmpd="sng" w="12700">
            <a:solidFill>
              <a:srgbClr val="7C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9"/>
          <p:cNvSpPr/>
          <p:nvPr/>
        </p:nvSpPr>
        <p:spPr>
          <a:xfrm>
            <a:off x="8321040" y="43434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TESTABLE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9"/>
          <p:cNvSpPr/>
          <p:nvPr/>
        </p:nvSpPr>
        <p:spPr>
          <a:xfrm>
            <a:off x="8321040" y="4937760"/>
            <a:ext cx="3200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Lint and test pipelines like any other code.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9"/>
          <p:cNvSpPr txBox="1"/>
          <p:nvPr>
            <p:ph idx="4294967295" type="sldNum"/>
          </p:nvPr>
        </p:nvSpPr>
        <p:spPr>
          <a:xfrm>
            <a:off x="5728716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AA0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0"/>
          <p:cNvSpPr/>
          <p:nvPr/>
        </p:nvSpPr>
        <p:spPr>
          <a:xfrm>
            <a:off x="548640" y="566928"/>
            <a:ext cx="118872" cy="118872"/>
          </a:xfrm>
          <a:prstGeom prst="ellipse">
            <a:avLst/>
          </a:prstGeom>
          <a:solidFill>
            <a:srgbClr val="7C5CFF"/>
          </a:solidFill>
          <a:ln cap="flat" cmpd="sng" w="12700">
            <a:solidFill>
              <a:srgbClr val="7C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0"/>
          <p:cNvSpPr/>
          <p:nvPr/>
        </p:nvSpPr>
        <p:spPr>
          <a:xfrm>
            <a:off x="758952" y="50292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14  •  TWO FLAVOURS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0"/>
          <p:cNvSpPr/>
          <p:nvPr/>
        </p:nvSpPr>
        <p:spPr>
          <a:xfrm>
            <a:off x="548640" y="84124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Declarative vs Scripted.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0"/>
          <p:cNvSpPr/>
          <p:nvPr/>
        </p:nvSpPr>
        <p:spPr>
          <a:xfrm>
            <a:off x="548640" y="1828800"/>
            <a:ext cx="5486400" cy="44805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7C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0"/>
          <p:cNvSpPr/>
          <p:nvPr/>
        </p:nvSpPr>
        <p:spPr>
          <a:xfrm>
            <a:off x="777240" y="196596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DECLARATIVE  •  RECOMMENDED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0"/>
          <p:cNvSpPr/>
          <p:nvPr/>
        </p:nvSpPr>
        <p:spPr>
          <a:xfrm>
            <a:off x="777240" y="2331720"/>
            <a:ext cx="49377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pipeline {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agent any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stages {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  stage('Build') {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    steps { sh 'mvn clean package' }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  stage('Test') {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    steps { sh 'mvn test' }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post {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  always { junit '**/target/*.xml' }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0"/>
          <p:cNvSpPr/>
          <p:nvPr/>
        </p:nvSpPr>
        <p:spPr>
          <a:xfrm>
            <a:off x="777240" y="55778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Structured, easy to read, easy to lint.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0"/>
          <p:cNvSpPr/>
          <p:nvPr/>
        </p:nvSpPr>
        <p:spPr>
          <a:xfrm>
            <a:off x="6217920" y="1828800"/>
            <a:ext cx="5486400" cy="44805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FF7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0"/>
          <p:cNvSpPr/>
          <p:nvPr/>
        </p:nvSpPr>
        <p:spPr>
          <a:xfrm>
            <a:off x="6446520" y="196596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7A59"/>
                </a:solidFill>
                <a:latin typeface="Calibri"/>
                <a:ea typeface="Calibri"/>
                <a:cs typeface="Calibri"/>
                <a:sym typeface="Calibri"/>
              </a:rPr>
              <a:t>SCRIPTED  •  POWER USERS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0"/>
          <p:cNvSpPr/>
          <p:nvPr/>
        </p:nvSpPr>
        <p:spPr>
          <a:xfrm>
            <a:off x="6446520" y="2331720"/>
            <a:ext cx="49377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node {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stage('Build') {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  sh 'mvn clean package'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stage('Test') {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  try {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    sh 'mvn test'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  } finally {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    junit '**/target/*.xml'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0"/>
          <p:cNvSpPr/>
          <p:nvPr/>
        </p:nvSpPr>
        <p:spPr>
          <a:xfrm>
            <a:off x="6446520" y="55778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Full Groovy power. Only when declarative isn't enough.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0"/>
          <p:cNvSpPr txBox="1"/>
          <p:nvPr>
            <p:ph idx="4294967295" type="sldNum"/>
          </p:nvPr>
        </p:nvSpPr>
        <p:spPr>
          <a:xfrm>
            <a:off x="5728716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AA0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1"/>
          <p:cNvSpPr/>
          <p:nvPr/>
        </p:nvSpPr>
        <p:spPr>
          <a:xfrm>
            <a:off x="548640" y="566928"/>
            <a:ext cx="118872" cy="118872"/>
          </a:xfrm>
          <a:prstGeom prst="ellipse">
            <a:avLst/>
          </a:prstGeom>
          <a:solidFill>
            <a:srgbClr val="7C5CFF"/>
          </a:solidFill>
          <a:ln cap="flat" cmpd="sng" w="12700">
            <a:solidFill>
              <a:srgbClr val="7C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1"/>
          <p:cNvSpPr/>
          <p:nvPr/>
        </p:nvSpPr>
        <p:spPr>
          <a:xfrm>
            <a:off x="758952" y="50292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15  •  BUILDING BLOCKS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1"/>
          <p:cNvSpPr/>
          <p:nvPr/>
        </p:nvSpPr>
        <p:spPr>
          <a:xfrm>
            <a:off x="548640" y="84124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Stages, steps, agents, when, input, parallel.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1"/>
          <p:cNvSpPr/>
          <p:nvPr/>
        </p:nvSpPr>
        <p:spPr>
          <a:xfrm>
            <a:off x="548640" y="1828800"/>
            <a:ext cx="5440680" cy="132588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1"/>
          <p:cNvSpPr/>
          <p:nvPr/>
        </p:nvSpPr>
        <p:spPr>
          <a:xfrm>
            <a:off x="777240" y="1993392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STAGE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1"/>
          <p:cNvSpPr/>
          <p:nvPr/>
        </p:nvSpPr>
        <p:spPr>
          <a:xfrm>
            <a:off x="2331720" y="1965960"/>
            <a:ext cx="3566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DEEF5"/>
                </a:solidFill>
                <a:latin typeface="Courier New"/>
                <a:ea typeface="Courier New"/>
                <a:cs typeface="Courier New"/>
                <a:sym typeface="Courier New"/>
              </a:rPr>
              <a:t>A logical phase. Becomes a column in the visualiser.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DEEF5"/>
                </a:solidFill>
                <a:latin typeface="Courier New"/>
                <a:ea typeface="Courier New"/>
                <a:cs typeface="Courier New"/>
                <a:sym typeface="Courier New"/>
              </a:rPr>
              <a:t>stage('Build') { ...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1"/>
          <p:cNvSpPr/>
          <p:nvPr/>
        </p:nvSpPr>
        <p:spPr>
          <a:xfrm>
            <a:off x="6126480" y="1828800"/>
            <a:ext cx="5440680" cy="132588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1"/>
          <p:cNvSpPr/>
          <p:nvPr/>
        </p:nvSpPr>
        <p:spPr>
          <a:xfrm>
            <a:off x="6355080" y="1993392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STEPS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1"/>
          <p:cNvSpPr/>
          <p:nvPr/>
        </p:nvSpPr>
        <p:spPr>
          <a:xfrm>
            <a:off x="7909560" y="1965960"/>
            <a:ext cx="3566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DEEF5"/>
                </a:solidFill>
                <a:latin typeface="Courier New"/>
                <a:ea typeface="Courier New"/>
                <a:cs typeface="Courier New"/>
                <a:sym typeface="Courier New"/>
              </a:rPr>
              <a:t>Atomic actions: sh, bat, junit, archiveArtifacts, dir, retry, timeout.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1"/>
          <p:cNvSpPr/>
          <p:nvPr/>
        </p:nvSpPr>
        <p:spPr>
          <a:xfrm>
            <a:off x="548640" y="3291840"/>
            <a:ext cx="5440680" cy="132588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1"/>
          <p:cNvSpPr/>
          <p:nvPr/>
        </p:nvSpPr>
        <p:spPr>
          <a:xfrm>
            <a:off x="777240" y="3456432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AGENT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1"/>
          <p:cNvSpPr/>
          <p:nvPr/>
        </p:nvSpPr>
        <p:spPr>
          <a:xfrm>
            <a:off x="2331720" y="3429000"/>
            <a:ext cx="3566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DEEF5"/>
                </a:solidFill>
                <a:latin typeface="Courier New"/>
                <a:ea typeface="Courier New"/>
                <a:cs typeface="Courier New"/>
                <a:sym typeface="Courier New"/>
              </a:rPr>
              <a:t>Where to run: any, none, label 'docker', docker { image }, kubernetes { yaml }.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1"/>
          <p:cNvSpPr/>
          <p:nvPr/>
        </p:nvSpPr>
        <p:spPr>
          <a:xfrm>
            <a:off x="6126480" y="3291840"/>
            <a:ext cx="5440680" cy="132588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1"/>
          <p:cNvSpPr/>
          <p:nvPr/>
        </p:nvSpPr>
        <p:spPr>
          <a:xfrm>
            <a:off x="6355080" y="3456432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WHEN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1"/>
          <p:cNvSpPr/>
          <p:nvPr/>
        </p:nvSpPr>
        <p:spPr>
          <a:xfrm>
            <a:off x="7909560" y="3429000"/>
            <a:ext cx="3566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DEEF5"/>
                </a:solidFill>
                <a:latin typeface="Courier New"/>
                <a:ea typeface="Courier New"/>
                <a:cs typeface="Courier New"/>
                <a:sym typeface="Courier New"/>
              </a:rPr>
              <a:t>Run a stage only if a condition holds.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DEEF5"/>
                </a:solidFill>
                <a:latin typeface="Courier New"/>
                <a:ea typeface="Courier New"/>
                <a:cs typeface="Courier New"/>
                <a:sym typeface="Courier New"/>
              </a:rPr>
              <a:t>when { branch 'main'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1"/>
          <p:cNvSpPr/>
          <p:nvPr/>
        </p:nvSpPr>
        <p:spPr>
          <a:xfrm>
            <a:off x="548640" y="4754880"/>
            <a:ext cx="5440680" cy="132588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1"/>
          <p:cNvSpPr/>
          <p:nvPr/>
        </p:nvSpPr>
        <p:spPr>
          <a:xfrm>
            <a:off x="777240" y="4919472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1"/>
          <p:cNvSpPr/>
          <p:nvPr/>
        </p:nvSpPr>
        <p:spPr>
          <a:xfrm>
            <a:off x="2331720" y="4892040"/>
            <a:ext cx="3566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DEEF5"/>
                </a:solidFill>
                <a:latin typeface="Courier New"/>
                <a:ea typeface="Courier New"/>
                <a:cs typeface="Courier New"/>
                <a:sym typeface="Courier New"/>
              </a:rPr>
              <a:t>Pause for human approval.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DEEF5"/>
                </a:solidFill>
                <a:latin typeface="Courier New"/>
                <a:ea typeface="Courier New"/>
                <a:cs typeface="Courier New"/>
                <a:sym typeface="Courier New"/>
              </a:rPr>
              <a:t>input message:'Deploy?', ok:'Ship it'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1"/>
          <p:cNvSpPr/>
          <p:nvPr/>
        </p:nvSpPr>
        <p:spPr>
          <a:xfrm>
            <a:off x="6126480" y="4754880"/>
            <a:ext cx="5440680" cy="132588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1"/>
          <p:cNvSpPr/>
          <p:nvPr/>
        </p:nvSpPr>
        <p:spPr>
          <a:xfrm>
            <a:off x="6355080" y="4919472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PARALLEL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1"/>
          <p:cNvSpPr/>
          <p:nvPr/>
        </p:nvSpPr>
        <p:spPr>
          <a:xfrm>
            <a:off x="7909560" y="4892040"/>
            <a:ext cx="3566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DEEF5"/>
                </a:solidFill>
                <a:latin typeface="Courier New"/>
                <a:ea typeface="Courier New"/>
                <a:cs typeface="Courier New"/>
                <a:sym typeface="Courier New"/>
              </a:rPr>
              <a:t>Run two stages at once.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DEEF5"/>
                </a:solidFill>
                <a:latin typeface="Courier New"/>
                <a:ea typeface="Courier New"/>
                <a:cs typeface="Courier New"/>
                <a:sym typeface="Courier New"/>
              </a:rPr>
              <a:t>parallel { unit: { ... }, lint: { ... }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1"/>
          <p:cNvSpPr txBox="1"/>
          <p:nvPr>
            <p:ph idx="4294967295" type="sldNum"/>
          </p:nvPr>
        </p:nvSpPr>
        <p:spPr>
          <a:xfrm>
            <a:off x="5728716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AA0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2"/>
          <p:cNvSpPr/>
          <p:nvPr/>
        </p:nvSpPr>
        <p:spPr>
          <a:xfrm>
            <a:off x="548640" y="566928"/>
            <a:ext cx="118872" cy="118872"/>
          </a:xfrm>
          <a:prstGeom prst="ellipse">
            <a:avLst/>
          </a:prstGeom>
          <a:solidFill>
            <a:srgbClr val="7C5CFF"/>
          </a:solidFill>
          <a:ln cap="flat" cmpd="sng" w="12700">
            <a:solidFill>
              <a:srgbClr val="7C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2"/>
          <p:cNvSpPr/>
          <p:nvPr/>
        </p:nvSpPr>
        <p:spPr>
          <a:xfrm>
            <a:off x="758952" y="50292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16  •  REFERENCE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2"/>
          <p:cNvSpPr/>
          <p:nvPr/>
        </p:nvSpPr>
        <p:spPr>
          <a:xfrm>
            <a:off x="548640" y="84124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real-world Jenkinsfile in 25 lines.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2"/>
          <p:cNvSpPr/>
          <p:nvPr/>
        </p:nvSpPr>
        <p:spPr>
          <a:xfrm>
            <a:off x="548640" y="1828800"/>
            <a:ext cx="11064240" cy="438912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7C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2"/>
          <p:cNvSpPr/>
          <p:nvPr/>
        </p:nvSpPr>
        <p:spPr>
          <a:xfrm>
            <a:off x="868680" y="1938528"/>
            <a:ext cx="1051560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pipeline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agent { label 'docker'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options { timestamps(); timeout(time: 45, unit: 'MINUTES')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environment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  APP_VERSION = "1.0.${env.BUILD_NUMBER}"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  REGISTRY    = 'registry.example.com'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stages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  stage('Checkout') { steps { checkout scm }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  stage('Build')    { steps { sh 'mvn -B clean package' }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  stage('Quality') 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    parallel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      stage('Unit')   { steps { sh 'mvn test -P unit' }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      stage('SAST')   { steps { sh 'sonar-scanner' }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   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  stage('Image') { steps { sh "docker build -t $REGISTRY/app:$APP_VERSION ." }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  stage('Push')  { when { branch 'main' } steps { sh "docker push $REGISTRY/app:$APP_VERSION" }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  stage('Deploy'){ when { branch 'main' } steps { sh './deploy.sh $APP_VERSION' }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post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  always   { junit '**/target/*.xml'; archiveArtifacts 'target/*.jar'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  failure  { slackSend channel:'#ci', color:'danger', message:"${env.JOB_NAME} #${BUILD_NUMBER} broke"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  success  { slackSend channel:'#ci', color:'good',   message:"${env.JOB_NAME} #${BUILD_NUMBER} green"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2"/>
          <p:cNvSpPr txBox="1"/>
          <p:nvPr>
            <p:ph idx="4294967295" type="sldNum"/>
          </p:nvPr>
        </p:nvSpPr>
        <p:spPr>
          <a:xfrm>
            <a:off x="5728716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AA0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3"/>
          <p:cNvSpPr/>
          <p:nvPr/>
        </p:nvSpPr>
        <p:spPr>
          <a:xfrm>
            <a:off x="548640" y="566928"/>
            <a:ext cx="118872" cy="118872"/>
          </a:xfrm>
          <a:prstGeom prst="ellipse">
            <a:avLst/>
          </a:prstGeom>
          <a:solidFill>
            <a:srgbClr val="FF7A59"/>
          </a:solidFill>
          <a:ln cap="flat" cmpd="sng" w="12700">
            <a:solidFill>
              <a:srgbClr val="FF7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3"/>
          <p:cNvSpPr/>
          <p:nvPr/>
        </p:nvSpPr>
        <p:spPr>
          <a:xfrm>
            <a:off x="758952" y="50292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9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7A59"/>
                </a:solidFill>
                <a:latin typeface="Calibri"/>
                <a:ea typeface="Calibri"/>
                <a:cs typeface="Calibri"/>
                <a:sym typeface="Calibri"/>
              </a:rPr>
              <a:t>LAB 3  •  HANDS-ON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3"/>
          <p:cNvSpPr/>
          <p:nvPr/>
        </p:nvSpPr>
        <p:spPr>
          <a:xfrm>
            <a:off x="548640" y="84124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Multi-stage Jenkinsfile.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3"/>
          <p:cNvSpPr/>
          <p:nvPr/>
        </p:nvSpPr>
        <p:spPr>
          <a:xfrm>
            <a:off x="548640" y="1737360"/>
            <a:ext cx="1463040" cy="146304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FF7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3"/>
          <p:cNvSpPr/>
          <p:nvPr/>
        </p:nvSpPr>
        <p:spPr>
          <a:xfrm>
            <a:off x="548640" y="178308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A5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7A59"/>
                </a:solidFill>
                <a:latin typeface="Calibri"/>
                <a:ea typeface="Calibri"/>
                <a:cs typeface="Calibri"/>
                <a:sym typeface="Calibri"/>
              </a:rPr>
              <a:t>LAB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3"/>
          <p:cNvSpPr/>
          <p:nvPr/>
        </p:nvSpPr>
        <p:spPr>
          <a:xfrm>
            <a:off x="548640" y="2103120"/>
            <a:ext cx="1463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3"/>
          <p:cNvSpPr/>
          <p:nvPr/>
        </p:nvSpPr>
        <p:spPr>
          <a:xfrm>
            <a:off x="2240280" y="1737360"/>
            <a:ext cx="6766560" cy="44805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3"/>
          <p:cNvSpPr/>
          <p:nvPr/>
        </p:nvSpPr>
        <p:spPr>
          <a:xfrm>
            <a:off x="2423160" y="1828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STEPS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3"/>
          <p:cNvSpPr/>
          <p:nvPr/>
        </p:nvSpPr>
        <p:spPr>
          <a:xfrm>
            <a:off x="2423160" y="2148840"/>
            <a:ext cx="64008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01   </a:t>
            </a:r>
            <a:r>
              <a:rPr b="0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Create a Git repo with a Jenkinsfile.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DEEF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C5C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02   </a:t>
            </a:r>
            <a:r>
              <a:rPr b="0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Stage Build → sh 'mvn -B clean package' (any sample Maven app).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DEEF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C5C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03   </a:t>
            </a:r>
            <a:r>
              <a:rPr b="0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Stage Test → sh 'mvn test'  +  post.always.junit '**/target/*.xml'.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DEEF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C5C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04   </a:t>
            </a:r>
            <a:r>
              <a:rPr b="0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Stage Docker → sh 'docker build -t app:$BUILD_NUMBER .'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DEEF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C5C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05   </a:t>
            </a:r>
            <a:r>
              <a:rPr b="0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Stage Deploy → when { branch 'main' } steps { sh './deploy.sh staging' }.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DEEF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C5C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06   </a:t>
            </a:r>
            <a:r>
              <a:rPr b="0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In Jenkins, New Item → Pipeline → 'Pipeline script from SCM' → run.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3"/>
          <p:cNvSpPr/>
          <p:nvPr/>
        </p:nvSpPr>
        <p:spPr>
          <a:xfrm>
            <a:off x="9189720" y="1737360"/>
            <a:ext cx="2468880" cy="4480560"/>
          </a:xfrm>
          <a:prstGeom prst="rect">
            <a:avLst/>
          </a:prstGeom>
          <a:solidFill>
            <a:srgbClr val="1D2032"/>
          </a:solidFill>
          <a:ln cap="flat" cmpd="sng" w="9525">
            <a:solidFill>
              <a:srgbClr val="10E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3"/>
          <p:cNvSpPr/>
          <p:nvPr/>
        </p:nvSpPr>
        <p:spPr>
          <a:xfrm>
            <a:off x="9326880" y="18288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EXPECTED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3"/>
          <p:cNvSpPr/>
          <p:nvPr/>
        </p:nvSpPr>
        <p:spPr>
          <a:xfrm>
            <a:off x="9326880" y="2148840"/>
            <a:ext cx="21945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A four-stage pipeline with JUnit publishing and conditional deploy, all from one Jenkinsfile.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3"/>
          <p:cNvSpPr txBox="1"/>
          <p:nvPr>
            <p:ph idx="4294967295" type="sldNum"/>
          </p:nvPr>
        </p:nvSpPr>
        <p:spPr>
          <a:xfrm>
            <a:off x="5728716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AA0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4"/>
          <p:cNvSpPr/>
          <p:nvPr/>
        </p:nvSpPr>
        <p:spPr>
          <a:xfrm>
            <a:off x="548640" y="566928"/>
            <a:ext cx="118872" cy="118872"/>
          </a:xfrm>
          <a:prstGeom prst="ellipse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4"/>
          <p:cNvSpPr/>
          <p:nvPr/>
        </p:nvSpPr>
        <p:spPr>
          <a:xfrm>
            <a:off x="758952" y="50292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17  •  SCM &amp; TRIGGERS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4"/>
          <p:cNvSpPr/>
          <p:nvPr/>
        </p:nvSpPr>
        <p:spPr>
          <a:xfrm>
            <a:off x="548640" y="84124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 integration, webhooks, Multibranch — in one slide.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4"/>
          <p:cNvSpPr/>
          <p:nvPr/>
        </p:nvSpPr>
        <p:spPr>
          <a:xfrm>
            <a:off x="548640" y="1783080"/>
            <a:ext cx="5577840" cy="44805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4"/>
          <p:cNvSpPr/>
          <p:nvPr/>
        </p:nvSpPr>
        <p:spPr>
          <a:xfrm>
            <a:off x="777240" y="19202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GIT INTEGRATION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4"/>
          <p:cNvSpPr/>
          <p:nvPr/>
        </p:nvSpPr>
        <p:spPr>
          <a:xfrm>
            <a:off x="777240" y="2240280"/>
            <a:ext cx="52120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`checkout scm` (Multibranch) or: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git branch:'main', credentialsId:'github-ssh',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   url:'git@github.com:user/app.git'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4"/>
          <p:cNvSpPr/>
          <p:nvPr/>
        </p:nvSpPr>
        <p:spPr>
          <a:xfrm>
            <a:off x="777240" y="365760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WEBHOOKS VS POLLING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4"/>
          <p:cNvSpPr/>
          <p:nvPr/>
        </p:nvSpPr>
        <p:spPr>
          <a:xfrm>
            <a:off x="777240" y="402336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●  Webhook → sub-10s latency, recommended default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4"/>
          <p:cNvSpPr/>
          <p:nvPr/>
        </p:nvSpPr>
        <p:spPr>
          <a:xfrm>
            <a:off x="777240" y="452628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●  Polling → fallback when Jenkins is behind NAT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4"/>
          <p:cNvSpPr/>
          <p:nvPr/>
        </p:nvSpPr>
        <p:spPr>
          <a:xfrm>
            <a:off x="777240" y="502920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●  Both → set quietPeriod to debounce rapid commits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4"/>
          <p:cNvSpPr/>
          <p:nvPr/>
        </p:nvSpPr>
        <p:spPr>
          <a:xfrm>
            <a:off x="6355080" y="1783080"/>
            <a:ext cx="5257800" cy="4480560"/>
          </a:xfrm>
          <a:prstGeom prst="rect">
            <a:avLst/>
          </a:prstGeom>
          <a:solidFill>
            <a:srgbClr val="1D2032"/>
          </a:solidFill>
          <a:ln cap="flat" cmpd="sng" w="9525">
            <a:solidFill>
              <a:srgbClr val="10E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4"/>
          <p:cNvSpPr/>
          <p:nvPr/>
        </p:nvSpPr>
        <p:spPr>
          <a:xfrm>
            <a:off x="6583680" y="19202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MULTIBRANCH PIPELINE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4"/>
          <p:cNvSpPr/>
          <p:nvPr/>
        </p:nvSpPr>
        <p:spPr>
          <a:xfrm>
            <a:off x="6583680" y="2240280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One Jenkins job that auto-discovers every branch + PR with a Jenkinsfile.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4"/>
          <p:cNvSpPr/>
          <p:nvPr/>
        </p:nvSpPr>
        <p:spPr>
          <a:xfrm>
            <a:off x="6583680" y="310896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●  Zero job-creation toil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4"/>
          <p:cNvSpPr/>
          <p:nvPr/>
        </p:nvSpPr>
        <p:spPr>
          <a:xfrm>
            <a:off x="6583680" y="370332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●  Branch-specific Jenkinsfiles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4"/>
          <p:cNvSpPr/>
          <p:nvPr/>
        </p:nvSpPr>
        <p:spPr>
          <a:xfrm>
            <a:off x="6583680" y="429768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●  PRs become their own sub-jobs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4"/>
          <p:cNvSpPr/>
          <p:nvPr/>
        </p:nvSpPr>
        <p:spPr>
          <a:xfrm>
            <a:off x="6583680" y="489204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●  Deleted branches → sub-jobs auto-removed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4"/>
          <p:cNvSpPr/>
          <p:nvPr/>
        </p:nvSpPr>
        <p:spPr>
          <a:xfrm>
            <a:off x="6583680" y="548640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●  Pairs beautifully with Blue Ocean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4"/>
          <p:cNvSpPr txBox="1"/>
          <p:nvPr>
            <p:ph idx="4294967295" type="sldNum"/>
          </p:nvPr>
        </p:nvSpPr>
        <p:spPr>
          <a:xfrm>
            <a:off x="5728716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AA0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5"/>
          <p:cNvSpPr/>
          <p:nvPr/>
        </p:nvSpPr>
        <p:spPr>
          <a:xfrm>
            <a:off x="548640" y="566928"/>
            <a:ext cx="118872" cy="118872"/>
          </a:xfrm>
          <a:prstGeom prst="ellipse">
            <a:avLst/>
          </a:prstGeom>
          <a:solidFill>
            <a:srgbClr val="FF7A59"/>
          </a:solidFill>
          <a:ln cap="flat" cmpd="sng" w="12700">
            <a:solidFill>
              <a:srgbClr val="FF7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5"/>
          <p:cNvSpPr/>
          <p:nvPr/>
        </p:nvSpPr>
        <p:spPr>
          <a:xfrm>
            <a:off x="758952" y="50292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9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7A59"/>
                </a:solidFill>
                <a:latin typeface="Calibri"/>
                <a:ea typeface="Calibri"/>
                <a:cs typeface="Calibri"/>
                <a:sym typeface="Calibri"/>
              </a:rPr>
              <a:t>LAB 4  •  HANDS-ON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5"/>
          <p:cNvSpPr/>
          <p:nvPr/>
        </p:nvSpPr>
        <p:spPr>
          <a:xfrm>
            <a:off x="548640" y="84124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 webhook → auto-build.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5"/>
          <p:cNvSpPr/>
          <p:nvPr/>
        </p:nvSpPr>
        <p:spPr>
          <a:xfrm>
            <a:off x="548640" y="1737360"/>
            <a:ext cx="1463040" cy="146304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FF7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5"/>
          <p:cNvSpPr/>
          <p:nvPr/>
        </p:nvSpPr>
        <p:spPr>
          <a:xfrm>
            <a:off x="548640" y="178308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A5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7A59"/>
                </a:solidFill>
                <a:latin typeface="Calibri"/>
                <a:ea typeface="Calibri"/>
                <a:cs typeface="Calibri"/>
                <a:sym typeface="Calibri"/>
              </a:rPr>
              <a:t>LAB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5"/>
          <p:cNvSpPr/>
          <p:nvPr/>
        </p:nvSpPr>
        <p:spPr>
          <a:xfrm>
            <a:off x="548640" y="2103120"/>
            <a:ext cx="1463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5"/>
          <p:cNvSpPr/>
          <p:nvPr/>
        </p:nvSpPr>
        <p:spPr>
          <a:xfrm>
            <a:off x="2240280" y="1737360"/>
            <a:ext cx="6766560" cy="44805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5"/>
          <p:cNvSpPr/>
          <p:nvPr/>
        </p:nvSpPr>
        <p:spPr>
          <a:xfrm>
            <a:off x="2423160" y="1828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STEPS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5"/>
          <p:cNvSpPr/>
          <p:nvPr/>
        </p:nvSpPr>
        <p:spPr>
          <a:xfrm>
            <a:off x="2423160" y="2148840"/>
            <a:ext cx="64008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01   </a:t>
            </a:r>
            <a:r>
              <a:rPr b="0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Expose Jenkins (ngrok or public URL — must be reachable from GitHub).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DEEF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C5C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02   </a:t>
            </a:r>
            <a:r>
              <a:rPr b="0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GitHub repo → Settings → Webhooks → Add → payload URL &lt;jenkins&gt;/github-webhook/.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DEEF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C5C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03   </a:t>
            </a:r>
            <a:r>
              <a:rPr b="0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Content type: application/json; events: push &amp; PR.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DEEF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C5C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04   </a:t>
            </a:r>
            <a:r>
              <a:rPr b="0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Jenkins job → 'GitHub hook trigger for GITScm polling'.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DEEF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C5C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05   </a:t>
            </a:r>
            <a:r>
              <a:rPr b="0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Commit + push a tiny change.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DEEF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C5C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06   </a:t>
            </a:r>
            <a:r>
              <a:rPr b="0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Confirm the build starts within ~5 seconds.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5"/>
          <p:cNvSpPr/>
          <p:nvPr/>
        </p:nvSpPr>
        <p:spPr>
          <a:xfrm>
            <a:off x="9189720" y="1737360"/>
            <a:ext cx="2468880" cy="4480560"/>
          </a:xfrm>
          <a:prstGeom prst="rect">
            <a:avLst/>
          </a:prstGeom>
          <a:solidFill>
            <a:srgbClr val="1D2032"/>
          </a:solidFill>
          <a:ln cap="flat" cmpd="sng" w="9525">
            <a:solidFill>
              <a:srgbClr val="10E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5"/>
          <p:cNvSpPr/>
          <p:nvPr/>
        </p:nvSpPr>
        <p:spPr>
          <a:xfrm>
            <a:off x="9326880" y="18288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EXPECTED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5"/>
          <p:cNvSpPr/>
          <p:nvPr/>
        </p:nvSpPr>
        <p:spPr>
          <a:xfrm>
            <a:off x="9326880" y="2148840"/>
            <a:ext cx="21945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End-to-end webhook flow: GitHub → Jenkins → automated build with sub-10-second latency.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5"/>
          <p:cNvSpPr txBox="1"/>
          <p:nvPr>
            <p:ph idx="4294967295" type="sldNum"/>
          </p:nvPr>
        </p:nvSpPr>
        <p:spPr>
          <a:xfrm>
            <a:off x="5728716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AA0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26"/>
          <p:cNvSpPr/>
          <p:nvPr/>
        </p:nvSpPr>
        <p:spPr>
          <a:xfrm>
            <a:off x="548640" y="566928"/>
            <a:ext cx="118872" cy="118872"/>
          </a:xfrm>
          <a:prstGeom prst="ellipse">
            <a:avLst/>
          </a:prstGeom>
          <a:solidFill>
            <a:srgbClr val="FF7A59"/>
          </a:solidFill>
          <a:ln cap="flat" cmpd="sng" w="12700">
            <a:solidFill>
              <a:srgbClr val="FF7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6"/>
          <p:cNvSpPr/>
          <p:nvPr/>
        </p:nvSpPr>
        <p:spPr>
          <a:xfrm>
            <a:off x="758952" y="50292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9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7A59"/>
                </a:solidFill>
                <a:latin typeface="Calibri"/>
                <a:ea typeface="Calibri"/>
                <a:cs typeface="Calibri"/>
                <a:sym typeface="Calibri"/>
              </a:rPr>
              <a:t>18  •  CREDENTIALS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6"/>
          <p:cNvSpPr/>
          <p:nvPr/>
        </p:nvSpPr>
        <p:spPr>
          <a:xfrm>
            <a:off x="548640" y="84124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Secrets without leaks.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6"/>
          <p:cNvSpPr/>
          <p:nvPr/>
        </p:nvSpPr>
        <p:spPr>
          <a:xfrm>
            <a:off x="548640" y="1783080"/>
            <a:ext cx="6858000" cy="44805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FF7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6"/>
          <p:cNvSpPr/>
          <p:nvPr/>
        </p:nvSpPr>
        <p:spPr>
          <a:xfrm>
            <a:off x="868680" y="1965960"/>
            <a:ext cx="640080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withCredentials([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usernamePassword(credentialsId: 'docker-registry',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usernameVariable: 'REG_USR',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passwordVariable: 'REG_PSW'),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string(credentialsId: 'sonar-token',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       variable: 'SONAR_TOKEN'),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sshUserPrivateKey(credentialsId: 'github-ssh',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keyFileVariable: 'SSH_KEY')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])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sh '''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  echo $REG_PSW | docker login -u $REG_USR --password-stdin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  docker push registry.example.com/app:$BUILD_NUMBER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  '''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6"/>
          <p:cNvSpPr/>
          <p:nvPr/>
        </p:nvSpPr>
        <p:spPr>
          <a:xfrm>
            <a:off x="7589520" y="1783080"/>
            <a:ext cx="4023360" cy="4480560"/>
          </a:xfrm>
          <a:prstGeom prst="rect">
            <a:avLst/>
          </a:prstGeom>
          <a:solidFill>
            <a:srgbClr val="1D2032"/>
          </a:solidFill>
          <a:ln cap="flat" cmpd="sng" w="9525">
            <a:solidFill>
              <a:srgbClr val="10E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6"/>
          <p:cNvSpPr/>
          <p:nvPr/>
        </p:nvSpPr>
        <p:spPr>
          <a:xfrm>
            <a:off x="7818120" y="1920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SECRETS DISCIPLINE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6"/>
          <p:cNvSpPr/>
          <p:nvPr/>
        </p:nvSpPr>
        <p:spPr>
          <a:xfrm>
            <a:off x="7818120" y="233172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●  Vault / AWS Secrets Manager in prod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6"/>
          <p:cNvSpPr/>
          <p:nvPr/>
        </p:nvSpPr>
        <p:spPr>
          <a:xfrm>
            <a:off x="7818120" y="297180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●  Rotate every 90 days max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6"/>
          <p:cNvSpPr/>
          <p:nvPr/>
        </p:nvSpPr>
        <p:spPr>
          <a:xfrm>
            <a:off x="7818120" y="361188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●  Never echo a secret to console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6"/>
          <p:cNvSpPr/>
          <p:nvPr/>
        </p:nvSpPr>
        <p:spPr>
          <a:xfrm>
            <a:off x="7818120" y="425196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●  Never commit secrets to Git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6"/>
          <p:cNvSpPr/>
          <p:nvPr/>
        </p:nvSpPr>
        <p:spPr>
          <a:xfrm>
            <a:off x="7818120" y="489204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●  Separate secrets per environment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6"/>
          <p:cNvSpPr/>
          <p:nvPr/>
        </p:nvSpPr>
        <p:spPr>
          <a:xfrm>
            <a:off x="7818120" y="553212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●  Scope credentials by domain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6"/>
          <p:cNvSpPr txBox="1"/>
          <p:nvPr>
            <p:ph idx="4294967295" type="sldNum"/>
          </p:nvPr>
        </p:nvSpPr>
        <p:spPr>
          <a:xfrm>
            <a:off x="5728716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AA0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7"/>
          <p:cNvSpPr/>
          <p:nvPr/>
        </p:nvSpPr>
        <p:spPr>
          <a:xfrm>
            <a:off x="548640" y="566928"/>
            <a:ext cx="118872" cy="118872"/>
          </a:xfrm>
          <a:prstGeom prst="ellipse">
            <a:avLst/>
          </a:prstGeom>
          <a:solidFill>
            <a:srgbClr val="7C5CFF"/>
          </a:solidFill>
          <a:ln cap="flat" cmpd="sng" w="12700">
            <a:solidFill>
              <a:srgbClr val="7C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7"/>
          <p:cNvSpPr/>
          <p:nvPr/>
        </p:nvSpPr>
        <p:spPr>
          <a:xfrm>
            <a:off x="758952" y="50292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19  •  DISTRIBUTED BUILDS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7"/>
          <p:cNvSpPr/>
          <p:nvPr/>
        </p:nvSpPr>
        <p:spPr>
          <a:xfrm>
            <a:off x="548640" y="84124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Static, cloud, and Kubernetes agents.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7"/>
          <p:cNvSpPr/>
          <p:nvPr/>
        </p:nvSpPr>
        <p:spPr>
          <a:xfrm>
            <a:off x="548640" y="2286000"/>
            <a:ext cx="3611880" cy="40233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7C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7"/>
          <p:cNvSpPr/>
          <p:nvPr/>
        </p:nvSpPr>
        <p:spPr>
          <a:xfrm>
            <a:off x="777240" y="24231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STATIC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7"/>
          <p:cNvSpPr/>
          <p:nvPr/>
        </p:nvSpPr>
        <p:spPr>
          <a:xfrm>
            <a:off x="777240" y="2971800"/>
            <a:ext cx="3154680" cy="1188720"/>
          </a:xfrm>
          <a:prstGeom prst="rect">
            <a:avLst/>
          </a:prstGeom>
          <a:solidFill>
            <a:srgbClr val="1D2032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7"/>
          <p:cNvSpPr/>
          <p:nvPr/>
        </p:nvSpPr>
        <p:spPr>
          <a:xfrm>
            <a:off x="914400" y="310896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agent { label 'linux' }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7"/>
          <p:cNvSpPr/>
          <p:nvPr/>
        </p:nvSpPr>
        <p:spPr>
          <a:xfrm>
            <a:off x="777240" y="4297680"/>
            <a:ext cx="320040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Pinned, always-on VMs. SSH or JNLP4 inbound. Good for legacy or licensed-tool builds (Mac for iOS, Windows for .NET).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7"/>
          <p:cNvSpPr/>
          <p:nvPr/>
        </p:nvSpPr>
        <p:spPr>
          <a:xfrm>
            <a:off x="4343400" y="2286000"/>
            <a:ext cx="3611880" cy="40233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7"/>
          <p:cNvSpPr/>
          <p:nvPr/>
        </p:nvSpPr>
        <p:spPr>
          <a:xfrm>
            <a:off x="4572000" y="24231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CLOUD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7"/>
          <p:cNvSpPr/>
          <p:nvPr/>
        </p:nvSpPr>
        <p:spPr>
          <a:xfrm>
            <a:off x="4572000" y="2971800"/>
            <a:ext cx="3154680" cy="1188720"/>
          </a:xfrm>
          <a:prstGeom prst="rect">
            <a:avLst/>
          </a:prstGeom>
          <a:solidFill>
            <a:srgbClr val="1D2032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27"/>
          <p:cNvSpPr/>
          <p:nvPr/>
        </p:nvSpPr>
        <p:spPr>
          <a:xfrm>
            <a:off x="4709160" y="310896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amazon-ec2 + Fleet plugin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7"/>
          <p:cNvSpPr/>
          <p:nvPr/>
        </p:nvSpPr>
        <p:spPr>
          <a:xfrm>
            <a:off x="4572000" y="4297680"/>
            <a:ext cx="320040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Ephemeral agents spun up on AWS/GCP/Azure on demand. Pay only for build time. Idle-terminate when queue empties.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7"/>
          <p:cNvSpPr/>
          <p:nvPr/>
        </p:nvSpPr>
        <p:spPr>
          <a:xfrm>
            <a:off x="8138160" y="2286000"/>
            <a:ext cx="3611880" cy="40233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10E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7"/>
          <p:cNvSpPr/>
          <p:nvPr/>
        </p:nvSpPr>
        <p:spPr>
          <a:xfrm>
            <a:off x="8366760" y="24231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KUBERNETES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7"/>
          <p:cNvSpPr/>
          <p:nvPr/>
        </p:nvSpPr>
        <p:spPr>
          <a:xfrm>
            <a:off x="8366760" y="2971800"/>
            <a:ext cx="3154680" cy="1188720"/>
          </a:xfrm>
          <a:prstGeom prst="rect">
            <a:avLst/>
          </a:prstGeom>
          <a:solidFill>
            <a:srgbClr val="1D2032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27"/>
          <p:cNvSpPr/>
          <p:nvPr/>
        </p:nvSpPr>
        <p:spPr>
          <a:xfrm>
            <a:off x="8503920" y="310896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podTemplate(yaml: '...')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7"/>
          <p:cNvSpPr/>
          <p:nvPr/>
        </p:nvSpPr>
        <p:spPr>
          <a:xfrm>
            <a:off x="8366760" y="4297680"/>
            <a:ext cx="320040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Pod-template agents — fresh pod per build. Multi-container pods (maven + docker + kubectl). The 2026 default for serious teams.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7"/>
          <p:cNvSpPr txBox="1"/>
          <p:nvPr>
            <p:ph idx="4294967295" type="sldNum"/>
          </p:nvPr>
        </p:nvSpPr>
        <p:spPr>
          <a:xfrm>
            <a:off x="5728716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AA0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28"/>
          <p:cNvSpPr/>
          <p:nvPr/>
        </p:nvSpPr>
        <p:spPr>
          <a:xfrm>
            <a:off x="548640" y="566928"/>
            <a:ext cx="118872" cy="118872"/>
          </a:xfrm>
          <a:prstGeom prst="ellipse">
            <a:avLst/>
          </a:prstGeom>
          <a:solidFill>
            <a:srgbClr val="FF7A59"/>
          </a:solidFill>
          <a:ln cap="flat" cmpd="sng" w="12700">
            <a:solidFill>
              <a:srgbClr val="FF7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8"/>
          <p:cNvSpPr/>
          <p:nvPr/>
        </p:nvSpPr>
        <p:spPr>
          <a:xfrm>
            <a:off x="758952" y="50292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9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7A59"/>
                </a:solidFill>
                <a:latin typeface="Calibri"/>
                <a:ea typeface="Calibri"/>
                <a:cs typeface="Calibri"/>
                <a:sym typeface="Calibri"/>
              </a:rPr>
              <a:t>LAB 5  •  HANDS-ON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8"/>
          <p:cNvSpPr/>
          <p:nvPr/>
        </p:nvSpPr>
        <p:spPr>
          <a:xfrm>
            <a:off x="548640" y="84124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 a Docker-based agent.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8"/>
          <p:cNvSpPr/>
          <p:nvPr/>
        </p:nvSpPr>
        <p:spPr>
          <a:xfrm>
            <a:off x="548640" y="1737360"/>
            <a:ext cx="1463040" cy="146304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FF7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8"/>
          <p:cNvSpPr/>
          <p:nvPr/>
        </p:nvSpPr>
        <p:spPr>
          <a:xfrm>
            <a:off x="548640" y="178308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A5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7A59"/>
                </a:solidFill>
                <a:latin typeface="Calibri"/>
                <a:ea typeface="Calibri"/>
                <a:cs typeface="Calibri"/>
                <a:sym typeface="Calibri"/>
              </a:rPr>
              <a:t>LAB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8"/>
          <p:cNvSpPr/>
          <p:nvPr/>
        </p:nvSpPr>
        <p:spPr>
          <a:xfrm>
            <a:off x="548640" y="2103120"/>
            <a:ext cx="1463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8"/>
          <p:cNvSpPr/>
          <p:nvPr/>
        </p:nvSpPr>
        <p:spPr>
          <a:xfrm>
            <a:off x="2240280" y="1737360"/>
            <a:ext cx="6766560" cy="44805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8"/>
          <p:cNvSpPr/>
          <p:nvPr/>
        </p:nvSpPr>
        <p:spPr>
          <a:xfrm>
            <a:off x="2423160" y="1828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STEPS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8"/>
          <p:cNvSpPr/>
          <p:nvPr/>
        </p:nvSpPr>
        <p:spPr>
          <a:xfrm>
            <a:off x="2423160" y="2148840"/>
            <a:ext cx="64008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01   </a:t>
            </a:r>
            <a:r>
              <a:rPr b="0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Install the 'Docker' + 'Docker Pipeline' plugins.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DEEF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C5C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02   </a:t>
            </a:r>
            <a:r>
              <a:rPr b="0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Manage Jenkins → Clouds → Docker.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DEEF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C5C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03   </a:t>
            </a:r>
            <a:r>
              <a:rPr b="0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Add template:  image=jenkins/inbound-agent:latest, label=docker.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DEEF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C5C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04   </a:t>
            </a:r>
            <a:r>
              <a:rPr b="0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Modify Jenkinsfile:  agent { label 'docker' }.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DEEF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C5C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05   </a:t>
            </a:r>
            <a:r>
              <a:rPr b="0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Run the pipeline; observe the agent container spin up on demand.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DEEF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7C5C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06   </a:t>
            </a:r>
            <a:r>
              <a:rPr b="0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Confirm idle-termination: the container disappears after the build.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8"/>
          <p:cNvSpPr/>
          <p:nvPr/>
        </p:nvSpPr>
        <p:spPr>
          <a:xfrm>
            <a:off x="9189720" y="1737360"/>
            <a:ext cx="2468880" cy="4480560"/>
          </a:xfrm>
          <a:prstGeom prst="rect">
            <a:avLst/>
          </a:prstGeom>
          <a:solidFill>
            <a:srgbClr val="1D2032"/>
          </a:solidFill>
          <a:ln cap="flat" cmpd="sng" w="9525">
            <a:solidFill>
              <a:srgbClr val="10E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28"/>
          <p:cNvSpPr/>
          <p:nvPr/>
        </p:nvSpPr>
        <p:spPr>
          <a:xfrm>
            <a:off x="9326880" y="18288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EXPECTED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8"/>
          <p:cNvSpPr/>
          <p:nvPr/>
        </p:nvSpPr>
        <p:spPr>
          <a:xfrm>
            <a:off x="9326880" y="2148840"/>
            <a:ext cx="21945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Pipelines run on ephemeral Docker containers — fresh OS every build, zero idle cost.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8"/>
          <p:cNvSpPr txBox="1"/>
          <p:nvPr>
            <p:ph idx="4294967295" type="sldNum"/>
          </p:nvPr>
        </p:nvSpPr>
        <p:spPr>
          <a:xfrm>
            <a:off x="5728716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AA0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29"/>
          <p:cNvSpPr/>
          <p:nvPr/>
        </p:nvSpPr>
        <p:spPr>
          <a:xfrm>
            <a:off x="548640" y="566928"/>
            <a:ext cx="118872" cy="118872"/>
          </a:xfrm>
          <a:prstGeom prst="ellipse">
            <a:avLst/>
          </a:prstGeom>
          <a:solidFill>
            <a:srgbClr val="FF7A59"/>
          </a:solidFill>
          <a:ln cap="flat" cmpd="sng" w="12700">
            <a:solidFill>
              <a:srgbClr val="FF7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9"/>
          <p:cNvSpPr/>
          <p:nvPr/>
        </p:nvSpPr>
        <p:spPr>
          <a:xfrm>
            <a:off x="758952" y="50292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9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7A59"/>
                </a:solidFill>
                <a:latin typeface="Calibri"/>
                <a:ea typeface="Calibri"/>
                <a:cs typeface="Calibri"/>
                <a:sym typeface="Calibri"/>
              </a:rPr>
              <a:t>20  •  SECURITY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9"/>
          <p:cNvSpPr/>
          <p:nvPr/>
        </p:nvSpPr>
        <p:spPr>
          <a:xfrm>
            <a:off x="548640" y="84124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Production hardening checklist.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9"/>
          <p:cNvSpPr/>
          <p:nvPr/>
        </p:nvSpPr>
        <p:spPr>
          <a:xfrm>
            <a:off x="548640" y="1828800"/>
            <a:ext cx="5440680" cy="96012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29"/>
          <p:cNvSpPr/>
          <p:nvPr/>
        </p:nvSpPr>
        <p:spPr>
          <a:xfrm>
            <a:off x="731520" y="2029968"/>
            <a:ext cx="365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9"/>
          <p:cNvSpPr/>
          <p:nvPr/>
        </p:nvSpPr>
        <p:spPr>
          <a:xfrm>
            <a:off x="1188720" y="196596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Run controller on its own host (or pod)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9"/>
          <p:cNvSpPr/>
          <p:nvPr/>
        </p:nvSpPr>
        <p:spPr>
          <a:xfrm>
            <a:off x="1188720" y="233172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Never co-host with build executors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9"/>
          <p:cNvSpPr/>
          <p:nvPr/>
        </p:nvSpPr>
        <p:spPr>
          <a:xfrm>
            <a:off x="6126480" y="1828800"/>
            <a:ext cx="5440680" cy="96012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29"/>
          <p:cNvSpPr/>
          <p:nvPr/>
        </p:nvSpPr>
        <p:spPr>
          <a:xfrm>
            <a:off x="6309360" y="2029968"/>
            <a:ext cx="365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9"/>
          <p:cNvSpPr/>
          <p:nvPr/>
        </p:nvSpPr>
        <p:spPr>
          <a:xfrm>
            <a:off x="6766560" y="196596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Reduce controller executors to 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9"/>
          <p:cNvSpPr/>
          <p:nvPr/>
        </p:nvSpPr>
        <p:spPr>
          <a:xfrm>
            <a:off x="6766560" y="233172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Force all jobs onto agents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9"/>
          <p:cNvSpPr/>
          <p:nvPr/>
        </p:nvSpPr>
        <p:spPr>
          <a:xfrm>
            <a:off x="548640" y="2907792"/>
            <a:ext cx="5440680" cy="96012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9"/>
          <p:cNvSpPr/>
          <p:nvPr/>
        </p:nvSpPr>
        <p:spPr>
          <a:xfrm>
            <a:off x="731520" y="3108960"/>
            <a:ext cx="365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9"/>
          <p:cNvSpPr/>
          <p:nvPr/>
        </p:nvSpPr>
        <p:spPr>
          <a:xfrm>
            <a:off x="1188720" y="3044952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Use HTTPS + HSTS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9"/>
          <p:cNvSpPr/>
          <p:nvPr/>
        </p:nvSpPr>
        <p:spPr>
          <a:xfrm>
            <a:off x="1188720" y="3410712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Behind a reverse proxy with TLS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9"/>
          <p:cNvSpPr/>
          <p:nvPr/>
        </p:nvSpPr>
        <p:spPr>
          <a:xfrm>
            <a:off x="6126480" y="2907792"/>
            <a:ext cx="5440680" cy="96012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29"/>
          <p:cNvSpPr/>
          <p:nvPr/>
        </p:nvSpPr>
        <p:spPr>
          <a:xfrm>
            <a:off x="6309360" y="3108960"/>
            <a:ext cx="365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9"/>
          <p:cNvSpPr/>
          <p:nvPr/>
        </p:nvSpPr>
        <p:spPr>
          <a:xfrm>
            <a:off x="6766560" y="3044952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Pin plugin versions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9"/>
          <p:cNvSpPr/>
          <p:nvPr/>
        </p:nvSpPr>
        <p:spPr>
          <a:xfrm>
            <a:off x="6766560" y="3410712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Test upgrades in staging first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9"/>
          <p:cNvSpPr/>
          <p:nvPr/>
        </p:nvSpPr>
        <p:spPr>
          <a:xfrm>
            <a:off x="548640" y="3986784"/>
            <a:ext cx="5440680" cy="96012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29"/>
          <p:cNvSpPr/>
          <p:nvPr/>
        </p:nvSpPr>
        <p:spPr>
          <a:xfrm>
            <a:off x="731520" y="4187952"/>
            <a:ext cx="365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9"/>
          <p:cNvSpPr/>
          <p:nvPr/>
        </p:nvSpPr>
        <p:spPr>
          <a:xfrm>
            <a:off x="1188720" y="4123944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Restrict Script Console to admins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9"/>
          <p:cNvSpPr/>
          <p:nvPr/>
        </p:nvSpPr>
        <p:spPr>
          <a:xfrm>
            <a:off x="1188720" y="4489704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It runs arbitrary Groovy as Jenkins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9"/>
          <p:cNvSpPr/>
          <p:nvPr/>
        </p:nvSpPr>
        <p:spPr>
          <a:xfrm>
            <a:off x="6126480" y="3986784"/>
            <a:ext cx="5440680" cy="96012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29"/>
          <p:cNvSpPr/>
          <p:nvPr/>
        </p:nvSpPr>
        <p:spPr>
          <a:xfrm>
            <a:off x="6309360" y="4187952"/>
            <a:ext cx="365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9"/>
          <p:cNvSpPr/>
          <p:nvPr/>
        </p:nvSpPr>
        <p:spPr>
          <a:xfrm>
            <a:off x="6766560" y="4123944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Use Folders + folder-based authz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9"/>
          <p:cNvSpPr/>
          <p:nvPr/>
        </p:nvSpPr>
        <p:spPr>
          <a:xfrm>
            <a:off x="6766560" y="4489704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Team isolation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9"/>
          <p:cNvSpPr/>
          <p:nvPr/>
        </p:nvSpPr>
        <p:spPr>
          <a:xfrm>
            <a:off x="548640" y="5065776"/>
            <a:ext cx="5440680" cy="96012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29"/>
          <p:cNvSpPr/>
          <p:nvPr/>
        </p:nvSpPr>
        <p:spPr>
          <a:xfrm>
            <a:off x="731520" y="5266944"/>
            <a:ext cx="365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9"/>
          <p:cNvSpPr/>
          <p:nvPr/>
        </p:nvSpPr>
        <p:spPr>
          <a:xfrm>
            <a:off x="1188720" y="5202936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Audit Trail plugin → SIEM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9"/>
          <p:cNvSpPr/>
          <p:nvPr/>
        </p:nvSpPr>
        <p:spPr>
          <a:xfrm>
            <a:off x="1188720" y="5568696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Compliance baseline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29"/>
          <p:cNvSpPr/>
          <p:nvPr/>
        </p:nvSpPr>
        <p:spPr>
          <a:xfrm>
            <a:off x="6126480" y="5065776"/>
            <a:ext cx="5440680" cy="96012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29"/>
          <p:cNvSpPr/>
          <p:nvPr/>
        </p:nvSpPr>
        <p:spPr>
          <a:xfrm>
            <a:off x="6309360" y="5266944"/>
            <a:ext cx="365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9"/>
          <p:cNvSpPr/>
          <p:nvPr/>
        </p:nvSpPr>
        <p:spPr>
          <a:xfrm>
            <a:off x="6766560" y="5202936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Back up jenkins_home daily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9"/>
          <p:cNvSpPr/>
          <p:nvPr/>
        </p:nvSpPr>
        <p:spPr>
          <a:xfrm>
            <a:off x="6766560" y="5568696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Test restores quarterly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9"/>
          <p:cNvSpPr txBox="1"/>
          <p:nvPr>
            <p:ph idx="4294967295" type="sldNum"/>
          </p:nvPr>
        </p:nvSpPr>
        <p:spPr>
          <a:xfrm>
            <a:off x="5728716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AA0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0"/>
          <p:cNvSpPr/>
          <p:nvPr/>
        </p:nvSpPr>
        <p:spPr>
          <a:xfrm>
            <a:off x="548640" y="566928"/>
            <a:ext cx="118872" cy="118872"/>
          </a:xfrm>
          <a:prstGeom prst="ellipse">
            <a:avLst/>
          </a:prstGeom>
          <a:solidFill>
            <a:srgbClr val="10E0A0"/>
          </a:solidFill>
          <a:ln cap="flat" cmpd="sng" w="12700">
            <a:solidFill>
              <a:srgbClr val="10E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30"/>
          <p:cNvSpPr/>
          <p:nvPr/>
        </p:nvSpPr>
        <p:spPr>
          <a:xfrm>
            <a:off x="758952" y="50292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21  •  DEPLOYMENT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0"/>
          <p:cNvSpPr/>
          <p:nvPr/>
        </p:nvSpPr>
        <p:spPr>
          <a:xfrm>
            <a:off x="548640" y="84124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Promotion, blue/green, canary.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0"/>
          <p:cNvSpPr/>
          <p:nvPr/>
        </p:nvSpPr>
        <p:spPr>
          <a:xfrm>
            <a:off x="548640" y="1783080"/>
            <a:ext cx="3749040" cy="44805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7C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30"/>
          <p:cNvSpPr/>
          <p:nvPr/>
        </p:nvSpPr>
        <p:spPr>
          <a:xfrm>
            <a:off x="777240" y="1920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PROMOTION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0"/>
          <p:cNvSpPr/>
          <p:nvPr/>
        </p:nvSpPr>
        <p:spPr>
          <a:xfrm>
            <a:off x="777240" y="2240280"/>
            <a:ext cx="3520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Build artifact once. Promote the same hash across environments.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0"/>
          <p:cNvSpPr/>
          <p:nvPr/>
        </p:nvSpPr>
        <p:spPr>
          <a:xfrm>
            <a:off x="777240" y="3337560"/>
            <a:ext cx="3520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●  Tag image with $BUILD_NUMBER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0"/>
          <p:cNvSpPr/>
          <p:nvPr/>
        </p:nvSpPr>
        <p:spPr>
          <a:xfrm>
            <a:off x="777240" y="3977640"/>
            <a:ext cx="3520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●  Stage tests the exact prod artifact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0"/>
          <p:cNvSpPr/>
          <p:nvPr/>
        </p:nvSpPr>
        <p:spPr>
          <a:xfrm>
            <a:off x="777240" y="4617720"/>
            <a:ext cx="3520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●  Promotion = retag, not rebuild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30"/>
          <p:cNvSpPr/>
          <p:nvPr/>
        </p:nvSpPr>
        <p:spPr>
          <a:xfrm>
            <a:off x="4434840" y="1783080"/>
            <a:ext cx="3749040" cy="44805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30"/>
          <p:cNvSpPr/>
          <p:nvPr/>
        </p:nvSpPr>
        <p:spPr>
          <a:xfrm>
            <a:off x="4663440" y="1920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BLUE / GREEN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0"/>
          <p:cNvSpPr/>
          <p:nvPr/>
        </p:nvSpPr>
        <p:spPr>
          <a:xfrm>
            <a:off x="4663440" y="2240280"/>
            <a:ext cx="3520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Two identical environments. Swap traffic atomically.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30"/>
          <p:cNvSpPr/>
          <p:nvPr/>
        </p:nvSpPr>
        <p:spPr>
          <a:xfrm>
            <a:off x="4663440" y="3337560"/>
            <a:ext cx="3520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●  Instant rollback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0"/>
          <p:cNvSpPr/>
          <p:nvPr/>
        </p:nvSpPr>
        <p:spPr>
          <a:xfrm>
            <a:off x="4663440" y="3977640"/>
            <a:ext cx="3520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●  Zero downtime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30"/>
          <p:cNvSpPr/>
          <p:nvPr/>
        </p:nvSpPr>
        <p:spPr>
          <a:xfrm>
            <a:off x="4663440" y="4617720"/>
            <a:ext cx="3520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●  2× infra cost while overlapping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0"/>
          <p:cNvSpPr/>
          <p:nvPr/>
        </p:nvSpPr>
        <p:spPr>
          <a:xfrm>
            <a:off x="8321040" y="1783080"/>
            <a:ext cx="3291840" cy="44805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FF7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30"/>
          <p:cNvSpPr/>
          <p:nvPr/>
        </p:nvSpPr>
        <p:spPr>
          <a:xfrm>
            <a:off x="8549640" y="192024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7A59"/>
                </a:solidFill>
                <a:latin typeface="Calibri"/>
                <a:ea typeface="Calibri"/>
                <a:cs typeface="Calibri"/>
                <a:sym typeface="Calibri"/>
              </a:rPr>
              <a:t>CANARY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0"/>
          <p:cNvSpPr/>
          <p:nvPr/>
        </p:nvSpPr>
        <p:spPr>
          <a:xfrm>
            <a:off x="8549640" y="224028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Route 1% → 10% → 50% → 100% to the new version.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0"/>
          <p:cNvSpPr/>
          <p:nvPr/>
        </p:nvSpPr>
        <p:spPr>
          <a:xfrm>
            <a:off x="8549640" y="333756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●  Real-user signal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0"/>
          <p:cNvSpPr/>
          <p:nvPr/>
        </p:nvSpPr>
        <p:spPr>
          <a:xfrm>
            <a:off x="8549640" y="397764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●  Needs traffic-shaping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0"/>
          <p:cNvSpPr/>
          <p:nvPr/>
        </p:nvSpPr>
        <p:spPr>
          <a:xfrm>
            <a:off x="8549640" y="461772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●  Best for risky changes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0"/>
          <p:cNvSpPr txBox="1"/>
          <p:nvPr>
            <p:ph idx="4294967295" type="sldNum"/>
          </p:nvPr>
        </p:nvSpPr>
        <p:spPr>
          <a:xfrm>
            <a:off x="5728716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AA0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31"/>
          <p:cNvSpPr/>
          <p:nvPr/>
        </p:nvSpPr>
        <p:spPr>
          <a:xfrm>
            <a:off x="548640" y="566928"/>
            <a:ext cx="118872" cy="118872"/>
          </a:xfrm>
          <a:prstGeom prst="ellipse">
            <a:avLst/>
          </a:prstGeom>
          <a:solidFill>
            <a:srgbClr val="7C5CFF"/>
          </a:solidFill>
          <a:ln cap="flat" cmpd="sng" w="12700">
            <a:solidFill>
              <a:srgbClr val="7C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31"/>
          <p:cNvSpPr/>
          <p:nvPr/>
        </p:nvSpPr>
        <p:spPr>
          <a:xfrm>
            <a:off x="758952" y="50292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22  •  BEST PRACTICES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1"/>
          <p:cNvSpPr/>
          <p:nvPr/>
        </p:nvSpPr>
        <p:spPr>
          <a:xfrm>
            <a:off x="548640" y="84124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 this. Never do that.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31"/>
          <p:cNvSpPr/>
          <p:nvPr/>
        </p:nvSpPr>
        <p:spPr>
          <a:xfrm>
            <a:off x="548640" y="1783080"/>
            <a:ext cx="5577840" cy="44805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10E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31"/>
          <p:cNvSpPr/>
          <p:nvPr/>
        </p:nvSpPr>
        <p:spPr>
          <a:xfrm>
            <a:off x="777240" y="19202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DO THIS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1"/>
          <p:cNvSpPr/>
          <p:nvPr/>
        </p:nvSpPr>
        <p:spPr>
          <a:xfrm>
            <a:off x="777240" y="228600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1"/>
          <p:cNvSpPr/>
          <p:nvPr/>
        </p:nvSpPr>
        <p:spPr>
          <a:xfrm>
            <a:off x="1097280" y="228600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Pin agent label (`agent { label 'docker' }`)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31"/>
          <p:cNvSpPr/>
          <p:nvPr/>
        </p:nvSpPr>
        <p:spPr>
          <a:xfrm>
            <a:off x="777240" y="278892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1"/>
          <p:cNvSpPr/>
          <p:nvPr/>
        </p:nvSpPr>
        <p:spPr>
          <a:xfrm>
            <a:off x="1097280" y="278892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Set global timeout + timestamps()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31"/>
          <p:cNvSpPr/>
          <p:nvPr/>
        </p:nvSpPr>
        <p:spPr>
          <a:xfrm>
            <a:off x="777240" y="329184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31"/>
          <p:cNvSpPr/>
          <p:nvPr/>
        </p:nvSpPr>
        <p:spPr>
          <a:xfrm>
            <a:off x="1097280" y="329184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`disableConcurrentBuilds()` on deploy jobs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31"/>
          <p:cNvSpPr/>
          <p:nvPr/>
        </p:nvSpPr>
        <p:spPr>
          <a:xfrm>
            <a:off x="777240" y="379476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1"/>
          <p:cNvSpPr/>
          <p:nvPr/>
        </p:nvSpPr>
        <p:spPr>
          <a:xfrm>
            <a:off x="1097280" y="379476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Use credentials() — never echo a secret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1"/>
          <p:cNvSpPr/>
          <p:nvPr/>
        </p:nvSpPr>
        <p:spPr>
          <a:xfrm>
            <a:off x="777240" y="429768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1"/>
          <p:cNvSpPr/>
          <p:nvPr/>
        </p:nvSpPr>
        <p:spPr>
          <a:xfrm>
            <a:off x="1097280" y="429768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Shared libraries for any logic &gt; 20 lines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1"/>
          <p:cNvSpPr/>
          <p:nvPr/>
        </p:nvSpPr>
        <p:spPr>
          <a:xfrm>
            <a:off x="777240" y="480060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1"/>
          <p:cNvSpPr/>
          <p:nvPr/>
        </p:nvSpPr>
        <p:spPr>
          <a:xfrm>
            <a:off x="1097280" y="480060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Parallelise tests, not deploys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1"/>
          <p:cNvSpPr/>
          <p:nvPr/>
        </p:nvSpPr>
        <p:spPr>
          <a:xfrm>
            <a:off x="777240" y="530352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31"/>
          <p:cNvSpPr/>
          <p:nvPr/>
        </p:nvSpPr>
        <p:spPr>
          <a:xfrm>
            <a:off x="1097280" y="530352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Always junit + archiveArtifacts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1"/>
          <p:cNvSpPr/>
          <p:nvPr/>
        </p:nvSpPr>
        <p:spPr>
          <a:xfrm>
            <a:off x="777240" y="580644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E0A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E0A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31"/>
          <p:cNvSpPr/>
          <p:nvPr/>
        </p:nvSpPr>
        <p:spPr>
          <a:xfrm>
            <a:off x="1097280" y="580644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post { always { cleanWs() } } to free disk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1"/>
          <p:cNvSpPr/>
          <p:nvPr/>
        </p:nvSpPr>
        <p:spPr>
          <a:xfrm>
            <a:off x="6355080" y="1783080"/>
            <a:ext cx="5257800" cy="448056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FF7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31"/>
          <p:cNvSpPr/>
          <p:nvPr/>
        </p:nvSpPr>
        <p:spPr>
          <a:xfrm>
            <a:off x="6583680" y="19202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7A59"/>
                </a:solidFill>
                <a:latin typeface="Calibri"/>
                <a:ea typeface="Calibri"/>
                <a:cs typeface="Calibri"/>
                <a:sym typeface="Calibri"/>
              </a:rPr>
              <a:t>NEVER DO THAT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1"/>
          <p:cNvSpPr/>
          <p:nvPr/>
        </p:nvSpPr>
        <p:spPr>
          <a:xfrm>
            <a:off x="6583680" y="228600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7A59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1"/>
          <p:cNvSpPr/>
          <p:nvPr/>
        </p:nvSpPr>
        <p:spPr>
          <a:xfrm>
            <a:off x="6903720" y="228600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Running jobs on the controller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1"/>
          <p:cNvSpPr/>
          <p:nvPr/>
        </p:nvSpPr>
        <p:spPr>
          <a:xfrm>
            <a:off x="6583680" y="278892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7A59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1"/>
          <p:cNvSpPr/>
          <p:nvPr/>
        </p:nvSpPr>
        <p:spPr>
          <a:xfrm>
            <a:off x="6903720" y="278892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Hardcoded secrets in Jenkinsfile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1"/>
          <p:cNvSpPr/>
          <p:nvPr/>
        </p:nvSpPr>
        <p:spPr>
          <a:xfrm>
            <a:off x="6583680" y="329184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7A59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1"/>
          <p:cNvSpPr/>
          <p:nvPr/>
        </p:nvSpPr>
        <p:spPr>
          <a:xfrm>
            <a:off x="6903720" y="329184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100-plugin Jenkins (audit quarterly)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1"/>
          <p:cNvSpPr/>
          <p:nvPr/>
        </p:nvSpPr>
        <p:spPr>
          <a:xfrm>
            <a:off x="6583680" y="379476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7A59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1"/>
          <p:cNvSpPr/>
          <p:nvPr/>
        </p:nvSpPr>
        <p:spPr>
          <a:xfrm>
            <a:off x="6903720" y="379476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No Multibranch (you have 50 hand-made jobs)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1"/>
          <p:cNvSpPr/>
          <p:nvPr/>
        </p:nvSpPr>
        <p:spPr>
          <a:xfrm>
            <a:off x="6583680" y="429768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7A59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1"/>
          <p:cNvSpPr/>
          <p:nvPr/>
        </p:nvSpPr>
        <p:spPr>
          <a:xfrm>
            <a:off x="6903720" y="429768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No Jenkinsfile in repo (it'll be lost)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31"/>
          <p:cNvSpPr/>
          <p:nvPr/>
        </p:nvSpPr>
        <p:spPr>
          <a:xfrm>
            <a:off x="6583680" y="480060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7A59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1"/>
          <p:cNvSpPr/>
          <p:nvPr/>
        </p:nvSpPr>
        <p:spPr>
          <a:xfrm>
            <a:off x="6903720" y="480060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Polling every 1 minute (use webhooks)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1"/>
          <p:cNvSpPr/>
          <p:nvPr/>
        </p:nvSpPr>
        <p:spPr>
          <a:xfrm>
            <a:off x="6583680" y="530352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7A59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1"/>
          <p:cNvSpPr/>
          <p:nvPr/>
        </p:nvSpPr>
        <p:spPr>
          <a:xfrm>
            <a:off x="6903720" y="530352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No backup of jenkins_home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31"/>
          <p:cNvSpPr/>
          <p:nvPr/>
        </p:nvSpPr>
        <p:spPr>
          <a:xfrm>
            <a:off x="6583680" y="580644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5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7A59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31"/>
          <p:cNvSpPr/>
          <p:nvPr/>
        </p:nvSpPr>
        <p:spPr>
          <a:xfrm>
            <a:off x="6903720" y="580644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Concurrent deploys (race conditions)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1"/>
          <p:cNvSpPr txBox="1"/>
          <p:nvPr>
            <p:ph idx="4294967295" type="sldNum"/>
          </p:nvPr>
        </p:nvSpPr>
        <p:spPr>
          <a:xfrm>
            <a:off x="5728716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AA0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32"/>
          <p:cNvSpPr/>
          <p:nvPr/>
        </p:nvSpPr>
        <p:spPr>
          <a:xfrm>
            <a:off x="-1828800" y="2743200"/>
            <a:ext cx="8229600" cy="8229600"/>
          </a:xfrm>
          <a:prstGeom prst="ellipse">
            <a:avLst/>
          </a:prstGeom>
          <a:solidFill>
            <a:srgbClr val="7C5CFF">
              <a:alpha val="20000"/>
            </a:srgbClr>
          </a:solidFill>
          <a:ln cap="flat" cmpd="sng" w="12700">
            <a:solidFill>
              <a:srgbClr val="7C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32"/>
          <p:cNvSpPr/>
          <p:nvPr/>
        </p:nvSpPr>
        <p:spPr>
          <a:xfrm>
            <a:off x="7315200" y="-2743200"/>
            <a:ext cx="8229600" cy="8229600"/>
          </a:xfrm>
          <a:prstGeom prst="ellipse">
            <a:avLst/>
          </a:prstGeom>
          <a:solidFill>
            <a:srgbClr val="22D3EE">
              <a:alpha val="18039"/>
            </a:srgbClr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32"/>
          <p:cNvSpPr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C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C5CFF"/>
                </a:solidFill>
                <a:latin typeface="Calibri"/>
                <a:ea typeface="Calibri"/>
                <a:cs typeface="Calibri"/>
                <a:sym typeface="Calibri"/>
              </a:rPr>
              <a:t>●  THANK YOU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2"/>
          <p:cNvSpPr/>
          <p:nvPr/>
        </p:nvSpPr>
        <p:spPr>
          <a:xfrm>
            <a:off x="548640" y="2788920"/>
            <a:ext cx="114300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You're production-ready.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2"/>
          <p:cNvSpPr/>
          <p:nvPr/>
        </p:nvSpPr>
        <p:spPr>
          <a:xfrm>
            <a:off x="548640" y="4160520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Go ship a pipeline this week.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2"/>
          <p:cNvSpPr/>
          <p:nvPr/>
        </p:nvSpPr>
        <p:spPr>
          <a:xfrm>
            <a:off x="548640" y="5120640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B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Questions, follow-up, cohort invites: info@rajeshupadhyay.com  •  +91 98863 45721  •  www.rajeshupadhyay.com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2"/>
          <p:cNvSpPr/>
          <p:nvPr/>
        </p:nvSpPr>
        <p:spPr>
          <a:xfrm>
            <a:off x="9875520" y="548640"/>
            <a:ext cx="1645920" cy="1645920"/>
          </a:xfrm>
          <a:prstGeom prst="roundRect">
            <a:avLst>
              <a:gd fmla="val 13889" name="adj"/>
            </a:avLst>
          </a:prstGeom>
          <a:solidFill>
            <a:srgbClr val="7C5CFF"/>
          </a:solidFill>
          <a:ln cap="flat" cmpd="sng" w="12700">
            <a:solidFill>
              <a:srgbClr val="7C5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32"/>
          <p:cNvSpPr/>
          <p:nvPr/>
        </p:nvSpPr>
        <p:spPr>
          <a:xfrm>
            <a:off x="9875520" y="548640"/>
            <a:ext cx="16459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3"/>
          <p:cNvSpPr/>
          <p:nvPr/>
        </p:nvSpPr>
        <p:spPr>
          <a:xfrm>
            <a:off x="548640" y="566928"/>
            <a:ext cx="118872" cy="118872"/>
          </a:xfrm>
          <a:prstGeom prst="ellipse">
            <a:avLst/>
          </a:prstGeom>
          <a:solidFill>
            <a:srgbClr val="22D3EE"/>
          </a:solidFill>
          <a:ln cap="flat" cmpd="sng" w="127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33"/>
          <p:cNvSpPr/>
          <p:nvPr/>
        </p:nvSpPr>
        <p:spPr>
          <a:xfrm>
            <a:off x="758952" y="50292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CLOSING  •  RESOURCES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3"/>
          <p:cNvSpPr/>
          <p:nvPr/>
        </p:nvSpPr>
        <p:spPr>
          <a:xfrm>
            <a:off x="548640" y="84124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Bookmarks worth keeping.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3"/>
          <p:cNvSpPr/>
          <p:nvPr/>
        </p:nvSpPr>
        <p:spPr>
          <a:xfrm>
            <a:off x="548640" y="1828800"/>
            <a:ext cx="11064240" cy="50292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33"/>
          <p:cNvSpPr/>
          <p:nvPr/>
        </p:nvSpPr>
        <p:spPr>
          <a:xfrm>
            <a:off x="777240" y="192024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jenkins.io/doc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3"/>
          <p:cNvSpPr/>
          <p:nvPr/>
        </p:nvSpPr>
        <p:spPr>
          <a:xfrm>
            <a:off x="5029200" y="19202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Canonical Jenkins documentation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33"/>
          <p:cNvSpPr/>
          <p:nvPr/>
        </p:nvSpPr>
        <p:spPr>
          <a:xfrm>
            <a:off x="548640" y="2395728"/>
            <a:ext cx="11064240" cy="50292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33"/>
          <p:cNvSpPr/>
          <p:nvPr/>
        </p:nvSpPr>
        <p:spPr>
          <a:xfrm>
            <a:off x="777240" y="248716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plugins.jenkins.io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3"/>
          <p:cNvSpPr/>
          <p:nvPr/>
        </p:nvSpPr>
        <p:spPr>
          <a:xfrm>
            <a:off x="5029200" y="248716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Plugin registry + security advisories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33"/>
          <p:cNvSpPr/>
          <p:nvPr/>
        </p:nvSpPr>
        <p:spPr>
          <a:xfrm>
            <a:off x="548640" y="2962656"/>
            <a:ext cx="11064240" cy="50292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33"/>
          <p:cNvSpPr/>
          <p:nvPr/>
        </p:nvSpPr>
        <p:spPr>
          <a:xfrm>
            <a:off x="777240" y="3054096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jenkins.io/security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3"/>
          <p:cNvSpPr/>
          <p:nvPr/>
        </p:nvSpPr>
        <p:spPr>
          <a:xfrm>
            <a:off x="5029200" y="3054096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Security advisories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33"/>
          <p:cNvSpPr/>
          <p:nvPr/>
        </p:nvSpPr>
        <p:spPr>
          <a:xfrm>
            <a:off x="548640" y="3529584"/>
            <a:ext cx="11064240" cy="50292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33"/>
          <p:cNvSpPr/>
          <p:nvPr/>
        </p:nvSpPr>
        <p:spPr>
          <a:xfrm>
            <a:off x="777240" y="3621024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jenkins-x.io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3"/>
          <p:cNvSpPr/>
          <p:nvPr/>
        </p:nvSpPr>
        <p:spPr>
          <a:xfrm>
            <a:off x="5029200" y="3621024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Cloud-native Jenkins X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33"/>
          <p:cNvSpPr/>
          <p:nvPr/>
        </p:nvSpPr>
        <p:spPr>
          <a:xfrm>
            <a:off x="548640" y="4096512"/>
            <a:ext cx="11064240" cy="50292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33"/>
          <p:cNvSpPr/>
          <p:nvPr/>
        </p:nvSpPr>
        <p:spPr>
          <a:xfrm>
            <a:off x="777240" y="418795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Pipeline Steps Reference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3"/>
          <p:cNvSpPr/>
          <p:nvPr/>
        </p:nvSpPr>
        <p:spPr>
          <a:xfrm>
            <a:off x="5029200" y="4187952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Every step, with examples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33"/>
          <p:cNvSpPr/>
          <p:nvPr/>
        </p:nvSpPr>
        <p:spPr>
          <a:xfrm>
            <a:off x="548640" y="4663440"/>
            <a:ext cx="11064240" cy="50292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33"/>
          <p:cNvSpPr/>
          <p:nvPr/>
        </p:nvSpPr>
        <p:spPr>
          <a:xfrm>
            <a:off x="777240" y="475488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DORA report (Google)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33"/>
          <p:cNvSpPr/>
          <p:nvPr/>
        </p:nvSpPr>
        <p:spPr>
          <a:xfrm>
            <a:off x="5029200" y="47548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CI/CD performance benchmarks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33"/>
          <p:cNvSpPr/>
          <p:nvPr/>
        </p:nvSpPr>
        <p:spPr>
          <a:xfrm>
            <a:off x="548640" y="5230368"/>
            <a:ext cx="11064240" cy="50292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33"/>
          <p:cNvSpPr/>
          <p:nvPr/>
        </p:nvSpPr>
        <p:spPr>
          <a:xfrm>
            <a:off x="777240" y="532180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Continuous Delivery (book)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3"/>
          <p:cNvSpPr/>
          <p:nvPr/>
        </p:nvSpPr>
        <p:spPr>
          <a:xfrm>
            <a:off x="5029200" y="532180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Jez Humble &amp; Dave Farley — the bible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33"/>
          <p:cNvSpPr/>
          <p:nvPr/>
        </p:nvSpPr>
        <p:spPr>
          <a:xfrm>
            <a:off x="548640" y="5797296"/>
            <a:ext cx="11064240" cy="502920"/>
          </a:xfrm>
          <a:prstGeom prst="rect">
            <a:avLst/>
          </a:prstGeom>
          <a:solidFill>
            <a:srgbClr val="161827"/>
          </a:solidFill>
          <a:ln cap="flat" cmpd="sng" w="9525">
            <a:solidFill>
              <a:srgbClr val="25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33"/>
          <p:cNvSpPr/>
          <p:nvPr/>
        </p:nvSpPr>
        <p:spPr>
          <a:xfrm>
            <a:off x="777240" y="5888736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22D3EE"/>
                </a:solidFill>
                <a:latin typeface="Courier New"/>
                <a:ea typeface="Courier New"/>
                <a:cs typeface="Courier New"/>
                <a:sym typeface="Courier New"/>
              </a:rPr>
              <a:t>www.rajeshupadhyay.com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33"/>
          <p:cNvSpPr/>
          <p:nvPr/>
        </p:nvSpPr>
        <p:spPr>
          <a:xfrm>
            <a:off x="5029200" y="5888736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DEEF5"/>
                </a:solidFill>
                <a:latin typeface="Calibri"/>
                <a:ea typeface="Calibri"/>
                <a:cs typeface="Calibri"/>
                <a:sym typeface="Calibri"/>
              </a:rPr>
              <a:t>Cohort updates + AI Career 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3"/>
          <p:cNvSpPr txBox="1"/>
          <p:nvPr>
            <p:ph idx="4294967295" type="sldNum"/>
          </p:nvPr>
        </p:nvSpPr>
        <p:spPr>
          <a:xfrm>
            <a:off x="5728716" y="64465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900" u="none" cap="none" strike="noStrike">
                <a:solidFill>
                  <a:srgbClr val="9AA0B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AA0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